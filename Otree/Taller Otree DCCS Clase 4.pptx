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5"/>
  </p:notesMasterIdLst>
  <p:handoutMasterIdLst>
    <p:handoutMasterId r:id="rId16"/>
  </p:handoutMasterIdLst>
  <p:sldIdLst>
    <p:sldId id="256" r:id="rId2"/>
    <p:sldId id="260" r:id="rId3"/>
    <p:sldId id="257" r:id="rId4"/>
    <p:sldId id="261" r:id="rId5"/>
    <p:sldId id="264" r:id="rId6"/>
    <p:sldId id="265" r:id="rId7"/>
    <p:sldId id="258" r:id="rId8"/>
    <p:sldId id="267" r:id="rId9"/>
    <p:sldId id="259" r:id="rId10"/>
    <p:sldId id="269" r:id="rId11"/>
    <p:sldId id="268" r:id="rId12"/>
    <p:sldId id="270" r:id="rId13"/>
    <p:sldId id="266" r:id="rId14"/>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FC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7168" autoAdjust="0"/>
    <p:restoredTop sz="94660"/>
  </p:normalViewPr>
  <p:slideViewPr>
    <p:cSldViewPr snapToGrid="0">
      <p:cViewPr varScale="1">
        <p:scale>
          <a:sx n="63" d="100"/>
          <a:sy n="63" d="100"/>
        </p:scale>
        <p:origin x="336" y="56"/>
      </p:cViewPr>
      <p:guideLst/>
    </p:cSldViewPr>
  </p:slideViewPr>
  <p:notesTextViewPr>
    <p:cViewPr>
      <p:scale>
        <a:sx n="1" d="1"/>
        <a:sy n="1" d="1"/>
      </p:scale>
      <p:origin x="0" y="0"/>
    </p:cViewPr>
  </p:notesTextViewPr>
  <p:notesViewPr>
    <p:cSldViewPr snapToGrid="0">
      <p:cViewPr varScale="1">
        <p:scale>
          <a:sx n="48" d="100"/>
          <a:sy n="48" d="100"/>
        </p:scale>
        <p:origin x="2752" y="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D5C45C4D-1342-1F2D-3F9C-2AB0320A93D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a:extLst>
              <a:ext uri="{FF2B5EF4-FFF2-40B4-BE49-F238E27FC236}">
                <a16:creationId xmlns:a16="http://schemas.microsoft.com/office/drawing/2014/main" id="{C147F294-62D3-6695-B94E-8638CB9DA6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0C71AC7-6A25-4D15-B383-52686823CDCB}" type="datetimeFigureOut">
              <a:rPr lang="es-CL" smtClean="0"/>
              <a:t>14-06-2024</a:t>
            </a:fld>
            <a:endParaRPr lang="es-CL"/>
          </a:p>
        </p:txBody>
      </p:sp>
      <p:sp>
        <p:nvSpPr>
          <p:cNvPr id="4" name="Marcador de pie de página 3">
            <a:extLst>
              <a:ext uri="{FF2B5EF4-FFF2-40B4-BE49-F238E27FC236}">
                <a16:creationId xmlns:a16="http://schemas.microsoft.com/office/drawing/2014/main" id="{5FC42175-C2ED-6BCE-7361-1EE56134CB7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5" name="Marcador de número de diapositiva 4">
            <a:extLst>
              <a:ext uri="{FF2B5EF4-FFF2-40B4-BE49-F238E27FC236}">
                <a16:creationId xmlns:a16="http://schemas.microsoft.com/office/drawing/2014/main" id="{4F7AD6C1-B9DE-581E-F98A-4812286222B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4543386-04F0-46E4-8629-9228E6A73DC4}" type="slidenum">
              <a:rPr lang="es-CL" smtClean="0"/>
              <a:t>‹Nº›</a:t>
            </a:fld>
            <a:endParaRPr lang="es-CL"/>
          </a:p>
        </p:txBody>
      </p:sp>
    </p:spTree>
    <p:extLst>
      <p:ext uri="{BB962C8B-B14F-4D97-AF65-F5344CB8AC3E}">
        <p14:creationId xmlns:p14="http://schemas.microsoft.com/office/powerpoint/2010/main" val="7044367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DCB1C5-7A92-487F-9FCB-37810ABAD54B}" type="datetimeFigureOut">
              <a:rPr lang="es-CL" smtClean="0"/>
              <a:t>14-06-2024</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D3EC20-E6CC-43A9-99E0-EF802D333444}" type="slidenum">
              <a:rPr lang="es-CL" smtClean="0"/>
              <a:t>‹Nº›</a:t>
            </a:fld>
            <a:endParaRPr lang="es-CL"/>
          </a:p>
        </p:txBody>
      </p:sp>
    </p:spTree>
    <p:extLst>
      <p:ext uri="{BB962C8B-B14F-4D97-AF65-F5344CB8AC3E}">
        <p14:creationId xmlns:p14="http://schemas.microsoft.com/office/powerpoint/2010/main" val="128736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p:txBody>
      </p:sp>
      <p:sp>
        <p:nvSpPr>
          <p:cNvPr id="4" name="Marcador de número de diapositiva 3"/>
          <p:cNvSpPr>
            <a:spLocks noGrp="1"/>
          </p:cNvSpPr>
          <p:nvPr>
            <p:ph type="sldNum" sz="quarter" idx="5"/>
          </p:nvPr>
        </p:nvSpPr>
        <p:spPr/>
        <p:txBody>
          <a:bodyPr/>
          <a:lstStyle/>
          <a:p>
            <a:fld id="{CED3EC20-E6CC-43A9-99E0-EF802D333444}" type="slidenum">
              <a:rPr lang="es-CL" smtClean="0"/>
              <a:t>1</a:t>
            </a:fld>
            <a:endParaRPr lang="es-CL"/>
          </a:p>
        </p:txBody>
      </p:sp>
    </p:spTree>
    <p:extLst>
      <p:ext uri="{BB962C8B-B14F-4D97-AF65-F5344CB8AC3E}">
        <p14:creationId xmlns:p14="http://schemas.microsoft.com/office/powerpoint/2010/main" val="7803336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7BFF57-5207-27E9-F2EA-EEE6EDC75DD6}"/>
              </a:ext>
            </a:extLst>
          </p:cNvPr>
          <p:cNvSpPr>
            <a:spLocks noGrp="1"/>
          </p:cNvSpPr>
          <p:nvPr>
            <p:ph type="ctrTitle"/>
          </p:nvPr>
        </p:nvSpPr>
        <p:spPr>
          <a:xfrm>
            <a:off x="1524000" y="1122363"/>
            <a:ext cx="9144000" cy="2387600"/>
          </a:xfrm>
        </p:spPr>
        <p:txBody>
          <a:bodyPr anchor="b"/>
          <a:lstStyle>
            <a:lvl1pPr algn="ctr">
              <a:defRPr sz="6000"/>
            </a:lvl1pPr>
          </a:lstStyle>
          <a:p>
            <a:r>
              <a:rPr lang="es-ES" dirty="0"/>
              <a:t>Haga clic para modificar el estilo de título del patrón</a:t>
            </a:r>
            <a:endParaRPr lang="es-CL" dirty="0"/>
          </a:p>
        </p:txBody>
      </p:sp>
      <p:sp>
        <p:nvSpPr>
          <p:cNvPr id="3" name="Subtítulo 2">
            <a:extLst>
              <a:ext uri="{FF2B5EF4-FFF2-40B4-BE49-F238E27FC236}">
                <a16:creationId xmlns:a16="http://schemas.microsoft.com/office/drawing/2014/main" id="{78A4E4E4-2C88-1168-E93B-891774B88B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8B928803-AD39-0530-3B2B-783947ABA1D5}"/>
              </a:ext>
            </a:extLst>
          </p:cNvPr>
          <p:cNvSpPr>
            <a:spLocks noGrp="1"/>
          </p:cNvSpPr>
          <p:nvPr>
            <p:ph type="dt" sz="half" idx="10"/>
          </p:nvPr>
        </p:nvSpPr>
        <p:spPr/>
        <p:txBody>
          <a:bodyPr/>
          <a:lstStyle/>
          <a:p>
            <a:endParaRPr lang="es-CL" dirty="0"/>
          </a:p>
        </p:txBody>
      </p:sp>
      <p:sp>
        <p:nvSpPr>
          <p:cNvPr id="5" name="Marcador de pie de página 4">
            <a:extLst>
              <a:ext uri="{FF2B5EF4-FFF2-40B4-BE49-F238E27FC236}">
                <a16:creationId xmlns:a16="http://schemas.microsoft.com/office/drawing/2014/main" id="{54358253-AF20-B4F8-43CE-08D2334A6999}"/>
              </a:ext>
            </a:extLst>
          </p:cNvPr>
          <p:cNvSpPr>
            <a:spLocks noGrp="1"/>
          </p:cNvSpPr>
          <p:nvPr>
            <p:ph type="ftr" sz="quarter" idx="11"/>
          </p:nvPr>
        </p:nvSpPr>
        <p:spPr/>
        <p:txBody>
          <a:bodyPr/>
          <a:lstStyle>
            <a:lvl1pPr>
              <a:defRPr sz="1600">
                <a:solidFill>
                  <a:sysClr val="windowText" lastClr="000000"/>
                </a:solidFill>
              </a:defRPr>
            </a:lvl1pPr>
          </a:lstStyle>
          <a:p>
            <a:r>
              <a:rPr lang="es-CL" dirty="0"/>
              <a:t>Taller OTree – DCCS 2024</a:t>
            </a:r>
          </a:p>
        </p:txBody>
      </p:sp>
      <p:sp>
        <p:nvSpPr>
          <p:cNvPr id="6" name="Marcador de número de diapositiva 5">
            <a:extLst>
              <a:ext uri="{FF2B5EF4-FFF2-40B4-BE49-F238E27FC236}">
                <a16:creationId xmlns:a16="http://schemas.microsoft.com/office/drawing/2014/main" id="{0D794BAE-E8B8-E70F-934C-B25BB75E435B}"/>
              </a:ext>
            </a:extLst>
          </p:cNvPr>
          <p:cNvSpPr>
            <a:spLocks noGrp="1"/>
          </p:cNvSpPr>
          <p:nvPr>
            <p:ph type="sldNum" sz="quarter" idx="12"/>
          </p:nvPr>
        </p:nvSpPr>
        <p:spPr/>
        <p:txBody>
          <a:bodyPr/>
          <a:lstStyle/>
          <a:p>
            <a:fld id="{19B08602-078C-4A74-AD07-C822C0FADE2C}" type="slidenum">
              <a:rPr lang="es-CL" smtClean="0"/>
              <a:t>‹Nº›</a:t>
            </a:fld>
            <a:endParaRPr lang="es-CL" dirty="0"/>
          </a:p>
        </p:txBody>
      </p:sp>
      <p:pic>
        <p:nvPicPr>
          <p:cNvPr id="8" name="Imagen 7" descr="Logotipo, nombre de la empresa">
            <a:extLst>
              <a:ext uri="{FF2B5EF4-FFF2-40B4-BE49-F238E27FC236}">
                <a16:creationId xmlns:a16="http://schemas.microsoft.com/office/drawing/2014/main" id="{01D9F4FE-754A-5B2D-125B-686AC0EB72C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632" t="32910" r="10533" b="32567"/>
          <a:stretch/>
        </p:blipFill>
        <p:spPr>
          <a:xfrm>
            <a:off x="278296" y="6253782"/>
            <a:ext cx="2057400" cy="558595"/>
          </a:xfrm>
          <a:prstGeom prst="rect">
            <a:avLst/>
          </a:prstGeom>
        </p:spPr>
      </p:pic>
    </p:spTree>
    <p:extLst>
      <p:ext uri="{BB962C8B-B14F-4D97-AF65-F5344CB8AC3E}">
        <p14:creationId xmlns:p14="http://schemas.microsoft.com/office/powerpoint/2010/main" val="279896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51E08E-91A2-E05D-A7E0-402BEBE4AC75}"/>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7F1A4182-EC7E-FF72-DB07-695DB092295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E8E8D854-D958-F76D-3664-A0D380DE8C26}"/>
              </a:ext>
            </a:extLst>
          </p:cNvPr>
          <p:cNvSpPr>
            <a:spLocks noGrp="1"/>
          </p:cNvSpPr>
          <p:nvPr>
            <p:ph type="dt" sz="half" idx="10"/>
          </p:nvPr>
        </p:nvSpPr>
        <p:spPr/>
        <p:txBody>
          <a:bodyPr/>
          <a:lstStyle/>
          <a:p>
            <a:endParaRPr lang="es-CL"/>
          </a:p>
        </p:txBody>
      </p:sp>
      <p:sp>
        <p:nvSpPr>
          <p:cNvPr id="5" name="Marcador de pie de página 4">
            <a:extLst>
              <a:ext uri="{FF2B5EF4-FFF2-40B4-BE49-F238E27FC236}">
                <a16:creationId xmlns:a16="http://schemas.microsoft.com/office/drawing/2014/main" id="{2E8F3164-96DF-FBC5-4355-5E6A8597343E}"/>
              </a:ext>
            </a:extLst>
          </p:cNvPr>
          <p:cNvSpPr>
            <a:spLocks noGrp="1"/>
          </p:cNvSpPr>
          <p:nvPr>
            <p:ph type="ftr" sz="quarter" idx="11"/>
          </p:nvPr>
        </p:nvSpPr>
        <p:spPr/>
        <p:txBody>
          <a:bodyPr/>
          <a:lstStyle/>
          <a:p>
            <a:r>
              <a:rPr lang="es-CL" dirty="0"/>
              <a:t>Taller OTree – DCCS 2024</a:t>
            </a:r>
          </a:p>
        </p:txBody>
      </p:sp>
      <p:sp>
        <p:nvSpPr>
          <p:cNvPr id="6" name="Marcador de número de diapositiva 5">
            <a:extLst>
              <a:ext uri="{FF2B5EF4-FFF2-40B4-BE49-F238E27FC236}">
                <a16:creationId xmlns:a16="http://schemas.microsoft.com/office/drawing/2014/main" id="{FA88E4F7-395E-F90C-CBF2-2F19E4FE38A4}"/>
              </a:ext>
            </a:extLst>
          </p:cNvPr>
          <p:cNvSpPr>
            <a:spLocks noGrp="1"/>
          </p:cNvSpPr>
          <p:nvPr>
            <p:ph type="sldNum" sz="quarter" idx="12"/>
          </p:nvPr>
        </p:nvSpPr>
        <p:spPr/>
        <p:txBody>
          <a:bodyPr/>
          <a:lstStyle/>
          <a:p>
            <a:fld id="{19B08602-078C-4A74-AD07-C822C0FADE2C}" type="slidenum">
              <a:rPr lang="es-CL" smtClean="0"/>
              <a:t>‹Nº›</a:t>
            </a:fld>
            <a:endParaRPr lang="es-CL"/>
          </a:p>
        </p:txBody>
      </p:sp>
    </p:spTree>
    <p:extLst>
      <p:ext uri="{BB962C8B-B14F-4D97-AF65-F5344CB8AC3E}">
        <p14:creationId xmlns:p14="http://schemas.microsoft.com/office/powerpoint/2010/main" val="2512895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66E5B3-5812-9745-DC84-78143CB19DA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1CE7EBB8-AFA6-9E1A-16F9-342ED16167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8E24C4D-030D-037E-A396-AA4EF52807FB}"/>
              </a:ext>
            </a:extLst>
          </p:cNvPr>
          <p:cNvSpPr>
            <a:spLocks noGrp="1"/>
          </p:cNvSpPr>
          <p:nvPr>
            <p:ph type="dt" sz="half" idx="10"/>
          </p:nvPr>
        </p:nvSpPr>
        <p:spPr/>
        <p:txBody>
          <a:bodyPr/>
          <a:lstStyle/>
          <a:p>
            <a:endParaRPr lang="es-CL"/>
          </a:p>
        </p:txBody>
      </p:sp>
      <p:sp>
        <p:nvSpPr>
          <p:cNvPr id="5" name="Marcador de pie de página 4">
            <a:extLst>
              <a:ext uri="{FF2B5EF4-FFF2-40B4-BE49-F238E27FC236}">
                <a16:creationId xmlns:a16="http://schemas.microsoft.com/office/drawing/2014/main" id="{EC4828EE-7D65-F16A-F09E-1ACC464D31C7}"/>
              </a:ext>
            </a:extLst>
          </p:cNvPr>
          <p:cNvSpPr>
            <a:spLocks noGrp="1"/>
          </p:cNvSpPr>
          <p:nvPr>
            <p:ph type="ftr" sz="quarter" idx="11"/>
          </p:nvPr>
        </p:nvSpPr>
        <p:spPr/>
        <p:txBody>
          <a:bodyPr/>
          <a:lstStyle/>
          <a:p>
            <a:r>
              <a:rPr lang="es-CL" dirty="0"/>
              <a:t>Taller OTree – DCCS 2024</a:t>
            </a:r>
          </a:p>
        </p:txBody>
      </p:sp>
      <p:sp>
        <p:nvSpPr>
          <p:cNvPr id="6" name="Marcador de número de diapositiva 5">
            <a:extLst>
              <a:ext uri="{FF2B5EF4-FFF2-40B4-BE49-F238E27FC236}">
                <a16:creationId xmlns:a16="http://schemas.microsoft.com/office/drawing/2014/main" id="{7D28AB8B-37D9-A46D-D311-95B75AA3DFFF}"/>
              </a:ext>
            </a:extLst>
          </p:cNvPr>
          <p:cNvSpPr>
            <a:spLocks noGrp="1"/>
          </p:cNvSpPr>
          <p:nvPr>
            <p:ph type="sldNum" sz="quarter" idx="12"/>
          </p:nvPr>
        </p:nvSpPr>
        <p:spPr/>
        <p:txBody>
          <a:bodyPr/>
          <a:lstStyle/>
          <a:p>
            <a:fld id="{19B08602-078C-4A74-AD07-C822C0FADE2C}" type="slidenum">
              <a:rPr lang="es-CL" smtClean="0"/>
              <a:t>‹Nº›</a:t>
            </a:fld>
            <a:endParaRPr lang="es-CL"/>
          </a:p>
        </p:txBody>
      </p:sp>
    </p:spTree>
    <p:extLst>
      <p:ext uri="{BB962C8B-B14F-4D97-AF65-F5344CB8AC3E}">
        <p14:creationId xmlns:p14="http://schemas.microsoft.com/office/powerpoint/2010/main" val="1345516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7E298C-5CFE-3AE2-605B-55BB332F13AE}"/>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7E8447D8-A66B-FA42-1729-0924EBC7313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3A89F520-1DA1-B1C6-3689-64D78439AEF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78FC9BB1-C18D-FE30-9DCA-E9CF49E4E80E}"/>
              </a:ext>
            </a:extLst>
          </p:cNvPr>
          <p:cNvSpPr>
            <a:spLocks noGrp="1"/>
          </p:cNvSpPr>
          <p:nvPr>
            <p:ph type="dt" sz="half" idx="10"/>
          </p:nvPr>
        </p:nvSpPr>
        <p:spPr/>
        <p:txBody>
          <a:bodyPr/>
          <a:lstStyle/>
          <a:p>
            <a:endParaRPr lang="es-CL"/>
          </a:p>
        </p:txBody>
      </p:sp>
      <p:sp>
        <p:nvSpPr>
          <p:cNvPr id="6" name="Marcador de pie de página 5">
            <a:extLst>
              <a:ext uri="{FF2B5EF4-FFF2-40B4-BE49-F238E27FC236}">
                <a16:creationId xmlns:a16="http://schemas.microsoft.com/office/drawing/2014/main" id="{23F90CD9-7EB3-B9A4-22DF-BC1D6F360BB3}"/>
              </a:ext>
            </a:extLst>
          </p:cNvPr>
          <p:cNvSpPr>
            <a:spLocks noGrp="1"/>
          </p:cNvSpPr>
          <p:nvPr>
            <p:ph type="ftr" sz="quarter" idx="11"/>
          </p:nvPr>
        </p:nvSpPr>
        <p:spPr/>
        <p:txBody>
          <a:bodyPr/>
          <a:lstStyle/>
          <a:p>
            <a:r>
              <a:rPr lang="es-CL" dirty="0"/>
              <a:t>Taller OTree – DCCS 2024</a:t>
            </a:r>
          </a:p>
        </p:txBody>
      </p:sp>
      <p:sp>
        <p:nvSpPr>
          <p:cNvPr id="7" name="Marcador de número de diapositiva 6">
            <a:extLst>
              <a:ext uri="{FF2B5EF4-FFF2-40B4-BE49-F238E27FC236}">
                <a16:creationId xmlns:a16="http://schemas.microsoft.com/office/drawing/2014/main" id="{6A08ED23-B2D4-01FC-2676-346900529915}"/>
              </a:ext>
            </a:extLst>
          </p:cNvPr>
          <p:cNvSpPr>
            <a:spLocks noGrp="1"/>
          </p:cNvSpPr>
          <p:nvPr>
            <p:ph type="sldNum" sz="quarter" idx="12"/>
          </p:nvPr>
        </p:nvSpPr>
        <p:spPr/>
        <p:txBody>
          <a:bodyPr/>
          <a:lstStyle/>
          <a:p>
            <a:fld id="{19B08602-078C-4A74-AD07-C822C0FADE2C}" type="slidenum">
              <a:rPr lang="es-CL" smtClean="0"/>
              <a:t>‹Nº›</a:t>
            </a:fld>
            <a:endParaRPr lang="es-CL"/>
          </a:p>
        </p:txBody>
      </p:sp>
    </p:spTree>
    <p:extLst>
      <p:ext uri="{BB962C8B-B14F-4D97-AF65-F5344CB8AC3E}">
        <p14:creationId xmlns:p14="http://schemas.microsoft.com/office/powerpoint/2010/main" val="2704599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C26952-E0B9-321F-924F-CD2648CFE72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E21738A-7E34-5E37-3506-A0E653C967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EC16E073-821E-5D79-995D-01F433B0ABF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CB9FDD69-B591-29D4-863A-4779537DE3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E30BE05A-0FF0-613F-9C51-188E1C74D4E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1561408D-8EBE-67B8-6F20-598E982BD62F}"/>
              </a:ext>
            </a:extLst>
          </p:cNvPr>
          <p:cNvSpPr>
            <a:spLocks noGrp="1"/>
          </p:cNvSpPr>
          <p:nvPr>
            <p:ph type="dt" sz="half" idx="10"/>
          </p:nvPr>
        </p:nvSpPr>
        <p:spPr/>
        <p:txBody>
          <a:bodyPr/>
          <a:lstStyle/>
          <a:p>
            <a:endParaRPr lang="es-CL"/>
          </a:p>
        </p:txBody>
      </p:sp>
      <p:sp>
        <p:nvSpPr>
          <p:cNvPr id="8" name="Marcador de pie de página 7">
            <a:extLst>
              <a:ext uri="{FF2B5EF4-FFF2-40B4-BE49-F238E27FC236}">
                <a16:creationId xmlns:a16="http://schemas.microsoft.com/office/drawing/2014/main" id="{DAA3386D-2D07-17FB-6E5C-C11089FFA5DA}"/>
              </a:ext>
            </a:extLst>
          </p:cNvPr>
          <p:cNvSpPr>
            <a:spLocks noGrp="1"/>
          </p:cNvSpPr>
          <p:nvPr>
            <p:ph type="ftr" sz="quarter" idx="11"/>
          </p:nvPr>
        </p:nvSpPr>
        <p:spPr/>
        <p:txBody>
          <a:bodyPr/>
          <a:lstStyle/>
          <a:p>
            <a:r>
              <a:rPr lang="es-CL" dirty="0"/>
              <a:t>Taller OTree – DCCS 2024</a:t>
            </a:r>
          </a:p>
        </p:txBody>
      </p:sp>
      <p:sp>
        <p:nvSpPr>
          <p:cNvPr id="9" name="Marcador de número de diapositiva 8">
            <a:extLst>
              <a:ext uri="{FF2B5EF4-FFF2-40B4-BE49-F238E27FC236}">
                <a16:creationId xmlns:a16="http://schemas.microsoft.com/office/drawing/2014/main" id="{98891618-D3BE-EED0-6604-0D076D3FF4E6}"/>
              </a:ext>
            </a:extLst>
          </p:cNvPr>
          <p:cNvSpPr>
            <a:spLocks noGrp="1"/>
          </p:cNvSpPr>
          <p:nvPr>
            <p:ph type="sldNum" sz="quarter" idx="12"/>
          </p:nvPr>
        </p:nvSpPr>
        <p:spPr/>
        <p:txBody>
          <a:bodyPr/>
          <a:lstStyle/>
          <a:p>
            <a:fld id="{19B08602-078C-4A74-AD07-C822C0FADE2C}" type="slidenum">
              <a:rPr lang="es-CL" smtClean="0"/>
              <a:t>‹Nº›</a:t>
            </a:fld>
            <a:endParaRPr lang="es-CL"/>
          </a:p>
        </p:txBody>
      </p:sp>
    </p:spTree>
    <p:extLst>
      <p:ext uri="{BB962C8B-B14F-4D97-AF65-F5344CB8AC3E}">
        <p14:creationId xmlns:p14="http://schemas.microsoft.com/office/powerpoint/2010/main" val="470832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8EFD7D-1238-8FEE-9C7C-1AED1D21FA40}"/>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7C0486E2-A210-B1DC-18B0-12DECC978179}"/>
              </a:ext>
            </a:extLst>
          </p:cNvPr>
          <p:cNvSpPr>
            <a:spLocks noGrp="1"/>
          </p:cNvSpPr>
          <p:nvPr>
            <p:ph type="dt" sz="half" idx="10"/>
          </p:nvPr>
        </p:nvSpPr>
        <p:spPr/>
        <p:txBody>
          <a:bodyPr/>
          <a:lstStyle/>
          <a:p>
            <a:endParaRPr lang="es-CL"/>
          </a:p>
        </p:txBody>
      </p:sp>
      <p:sp>
        <p:nvSpPr>
          <p:cNvPr id="4" name="Marcador de pie de página 3">
            <a:extLst>
              <a:ext uri="{FF2B5EF4-FFF2-40B4-BE49-F238E27FC236}">
                <a16:creationId xmlns:a16="http://schemas.microsoft.com/office/drawing/2014/main" id="{A39F4C9D-5AC2-16FC-B8ED-84B770E396F4}"/>
              </a:ext>
            </a:extLst>
          </p:cNvPr>
          <p:cNvSpPr>
            <a:spLocks noGrp="1"/>
          </p:cNvSpPr>
          <p:nvPr>
            <p:ph type="ftr" sz="quarter" idx="11"/>
          </p:nvPr>
        </p:nvSpPr>
        <p:spPr/>
        <p:txBody>
          <a:bodyPr/>
          <a:lstStyle/>
          <a:p>
            <a:r>
              <a:rPr lang="es-CL" dirty="0"/>
              <a:t>Taller OTree – DCCS 2024</a:t>
            </a:r>
          </a:p>
        </p:txBody>
      </p:sp>
      <p:sp>
        <p:nvSpPr>
          <p:cNvPr id="5" name="Marcador de número de diapositiva 4">
            <a:extLst>
              <a:ext uri="{FF2B5EF4-FFF2-40B4-BE49-F238E27FC236}">
                <a16:creationId xmlns:a16="http://schemas.microsoft.com/office/drawing/2014/main" id="{8A1CED6C-866F-7FCE-0AD2-25586C570524}"/>
              </a:ext>
            </a:extLst>
          </p:cNvPr>
          <p:cNvSpPr>
            <a:spLocks noGrp="1"/>
          </p:cNvSpPr>
          <p:nvPr>
            <p:ph type="sldNum" sz="quarter" idx="12"/>
          </p:nvPr>
        </p:nvSpPr>
        <p:spPr/>
        <p:txBody>
          <a:bodyPr/>
          <a:lstStyle/>
          <a:p>
            <a:fld id="{19B08602-078C-4A74-AD07-C822C0FADE2C}" type="slidenum">
              <a:rPr lang="es-CL" smtClean="0"/>
              <a:t>‹Nº›</a:t>
            </a:fld>
            <a:endParaRPr lang="es-CL"/>
          </a:p>
        </p:txBody>
      </p:sp>
    </p:spTree>
    <p:extLst>
      <p:ext uri="{BB962C8B-B14F-4D97-AF65-F5344CB8AC3E}">
        <p14:creationId xmlns:p14="http://schemas.microsoft.com/office/powerpoint/2010/main" val="2413595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BFB18D8-BDF6-C5EB-21FF-AD7347199880}"/>
              </a:ext>
            </a:extLst>
          </p:cNvPr>
          <p:cNvSpPr>
            <a:spLocks noGrp="1"/>
          </p:cNvSpPr>
          <p:nvPr>
            <p:ph type="dt" sz="half" idx="10"/>
          </p:nvPr>
        </p:nvSpPr>
        <p:spPr/>
        <p:txBody>
          <a:bodyPr/>
          <a:lstStyle/>
          <a:p>
            <a:endParaRPr lang="es-CL"/>
          </a:p>
        </p:txBody>
      </p:sp>
      <p:sp>
        <p:nvSpPr>
          <p:cNvPr id="3" name="Marcador de pie de página 2">
            <a:extLst>
              <a:ext uri="{FF2B5EF4-FFF2-40B4-BE49-F238E27FC236}">
                <a16:creationId xmlns:a16="http://schemas.microsoft.com/office/drawing/2014/main" id="{A3E03051-1C77-081C-3BF7-9219C84C5DEA}"/>
              </a:ext>
            </a:extLst>
          </p:cNvPr>
          <p:cNvSpPr>
            <a:spLocks noGrp="1"/>
          </p:cNvSpPr>
          <p:nvPr>
            <p:ph type="ftr" sz="quarter" idx="11"/>
          </p:nvPr>
        </p:nvSpPr>
        <p:spPr/>
        <p:txBody>
          <a:bodyPr/>
          <a:lstStyle/>
          <a:p>
            <a:r>
              <a:rPr lang="es-CL" dirty="0"/>
              <a:t>Taller OTree – DCCS 2024</a:t>
            </a:r>
          </a:p>
        </p:txBody>
      </p:sp>
      <p:sp>
        <p:nvSpPr>
          <p:cNvPr id="4" name="Marcador de número de diapositiva 3">
            <a:extLst>
              <a:ext uri="{FF2B5EF4-FFF2-40B4-BE49-F238E27FC236}">
                <a16:creationId xmlns:a16="http://schemas.microsoft.com/office/drawing/2014/main" id="{F0991F5F-DA69-EB01-1E49-C5E3E024DF26}"/>
              </a:ext>
            </a:extLst>
          </p:cNvPr>
          <p:cNvSpPr>
            <a:spLocks noGrp="1"/>
          </p:cNvSpPr>
          <p:nvPr>
            <p:ph type="sldNum" sz="quarter" idx="12"/>
          </p:nvPr>
        </p:nvSpPr>
        <p:spPr/>
        <p:txBody>
          <a:bodyPr/>
          <a:lstStyle/>
          <a:p>
            <a:fld id="{19B08602-078C-4A74-AD07-C822C0FADE2C}" type="slidenum">
              <a:rPr lang="es-CL" smtClean="0"/>
              <a:t>‹Nº›</a:t>
            </a:fld>
            <a:endParaRPr lang="es-CL"/>
          </a:p>
        </p:txBody>
      </p:sp>
    </p:spTree>
    <p:extLst>
      <p:ext uri="{BB962C8B-B14F-4D97-AF65-F5344CB8AC3E}">
        <p14:creationId xmlns:p14="http://schemas.microsoft.com/office/powerpoint/2010/main" val="3279015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608F31-F401-7ECE-79F3-7D0D682AF94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06907ED2-0D4A-B5BC-E22A-F017E3838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8C0031CB-C8D3-DD64-3F56-72D4D602BE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64D4A2E-27CE-9AD8-0AB7-E0002B541835}"/>
              </a:ext>
            </a:extLst>
          </p:cNvPr>
          <p:cNvSpPr>
            <a:spLocks noGrp="1"/>
          </p:cNvSpPr>
          <p:nvPr>
            <p:ph type="dt" sz="half" idx="10"/>
          </p:nvPr>
        </p:nvSpPr>
        <p:spPr/>
        <p:txBody>
          <a:bodyPr/>
          <a:lstStyle/>
          <a:p>
            <a:endParaRPr lang="es-CL"/>
          </a:p>
        </p:txBody>
      </p:sp>
      <p:sp>
        <p:nvSpPr>
          <p:cNvPr id="6" name="Marcador de pie de página 5">
            <a:extLst>
              <a:ext uri="{FF2B5EF4-FFF2-40B4-BE49-F238E27FC236}">
                <a16:creationId xmlns:a16="http://schemas.microsoft.com/office/drawing/2014/main" id="{C8742976-0F8A-48DB-2BB3-7338217D24F3}"/>
              </a:ext>
            </a:extLst>
          </p:cNvPr>
          <p:cNvSpPr>
            <a:spLocks noGrp="1"/>
          </p:cNvSpPr>
          <p:nvPr>
            <p:ph type="ftr" sz="quarter" idx="11"/>
          </p:nvPr>
        </p:nvSpPr>
        <p:spPr/>
        <p:txBody>
          <a:bodyPr/>
          <a:lstStyle/>
          <a:p>
            <a:r>
              <a:rPr lang="es-CL" dirty="0"/>
              <a:t>Taller OTree – DCCS 2024</a:t>
            </a:r>
          </a:p>
        </p:txBody>
      </p:sp>
      <p:sp>
        <p:nvSpPr>
          <p:cNvPr id="7" name="Marcador de número de diapositiva 6">
            <a:extLst>
              <a:ext uri="{FF2B5EF4-FFF2-40B4-BE49-F238E27FC236}">
                <a16:creationId xmlns:a16="http://schemas.microsoft.com/office/drawing/2014/main" id="{C04FA202-8870-4058-398C-BFF17FDFF54C}"/>
              </a:ext>
            </a:extLst>
          </p:cNvPr>
          <p:cNvSpPr>
            <a:spLocks noGrp="1"/>
          </p:cNvSpPr>
          <p:nvPr>
            <p:ph type="sldNum" sz="quarter" idx="12"/>
          </p:nvPr>
        </p:nvSpPr>
        <p:spPr/>
        <p:txBody>
          <a:bodyPr/>
          <a:lstStyle/>
          <a:p>
            <a:fld id="{19B08602-078C-4A74-AD07-C822C0FADE2C}" type="slidenum">
              <a:rPr lang="es-CL" smtClean="0"/>
              <a:t>‹Nº›</a:t>
            </a:fld>
            <a:endParaRPr lang="es-CL"/>
          </a:p>
        </p:txBody>
      </p:sp>
    </p:spTree>
    <p:extLst>
      <p:ext uri="{BB962C8B-B14F-4D97-AF65-F5344CB8AC3E}">
        <p14:creationId xmlns:p14="http://schemas.microsoft.com/office/powerpoint/2010/main" val="3633179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A504F7-BB8F-4551-00C9-8A3C736CE87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9C556E76-9DFE-755E-5AC8-C312362508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F38BE2B4-AC59-6B49-E643-4A648B2CAD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569E595-1411-3321-AC7D-0AD50466107E}"/>
              </a:ext>
            </a:extLst>
          </p:cNvPr>
          <p:cNvSpPr>
            <a:spLocks noGrp="1"/>
          </p:cNvSpPr>
          <p:nvPr>
            <p:ph type="dt" sz="half" idx="10"/>
          </p:nvPr>
        </p:nvSpPr>
        <p:spPr/>
        <p:txBody>
          <a:bodyPr/>
          <a:lstStyle/>
          <a:p>
            <a:endParaRPr lang="es-CL"/>
          </a:p>
        </p:txBody>
      </p:sp>
      <p:sp>
        <p:nvSpPr>
          <p:cNvPr id="6" name="Marcador de pie de página 5">
            <a:extLst>
              <a:ext uri="{FF2B5EF4-FFF2-40B4-BE49-F238E27FC236}">
                <a16:creationId xmlns:a16="http://schemas.microsoft.com/office/drawing/2014/main" id="{992CFCF5-0294-6A2A-E0E9-C11A1510A2BF}"/>
              </a:ext>
            </a:extLst>
          </p:cNvPr>
          <p:cNvSpPr>
            <a:spLocks noGrp="1"/>
          </p:cNvSpPr>
          <p:nvPr>
            <p:ph type="ftr" sz="quarter" idx="11"/>
          </p:nvPr>
        </p:nvSpPr>
        <p:spPr/>
        <p:txBody>
          <a:bodyPr/>
          <a:lstStyle/>
          <a:p>
            <a:r>
              <a:rPr lang="es-CL" dirty="0"/>
              <a:t>Taller OTree – DCCS 2024</a:t>
            </a:r>
          </a:p>
        </p:txBody>
      </p:sp>
      <p:sp>
        <p:nvSpPr>
          <p:cNvPr id="7" name="Marcador de número de diapositiva 6">
            <a:extLst>
              <a:ext uri="{FF2B5EF4-FFF2-40B4-BE49-F238E27FC236}">
                <a16:creationId xmlns:a16="http://schemas.microsoft.com/office/drawing/2014/main" id="{7B776D28-3494-6B87-A622-5120D9B089ED}"/>
              </a:ext>
            </a:extLst>
          </p:cNvPr>
          <p:cNvSpPr>
            <a:spLocks noGrp="1"/>
          </p:cNvSpPr>
          <p:nvPr>
            <p:ph type="sldNum" sz="quarter" idx="12"/>
          </p:nvPr>
        </p:nvSpPr>
        <p:spPr/>
        <p:txBody>
          <a:bodyPr/>
          <a:lstStyle/>
          <a:p>
            <a:fld id="{19B08602-078C-4A74-AD07-C822C0FADE2C}" type="slidenum">
              <a:rPr lang="es-CL" smtClean="0"/>
              <a:t>‹Nº›</a:t>
            </a:fld>
            <a:endParaRPr lang="es-CL"/>
          </a:p>
        </p:txBody>
      </p:sp>
    </p:spTree>
    <p:extLst>
      <p:ext uri="{BB962C8B-B14F-4D97-AF65-F5344CB8AC3E}">
        <p14:creationId xmlns:p14="http://schemas.microsoft.com/office/powerpoint/2010/main" val="114752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DA6C22-5040-14DA-3F22-1D98ADAA1123}"/>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4896914A-7FCD-9ABD-65E8-F59C6EE2E54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ACFD4169-7194-A855-368B-6FFB65DAF884}"/>
              </a:ext>
            </a:extLst>
          </p:cNvPr>
          <p:cNvSpPr>
            <a:spLocks noGrp="1"/>
          </p:cNvSpPr>
          <p:nvPr>
            <p:ph type="dt" sz="half" idx="10"/>
          </p:nvPr>
        </p:nvSpPr>
        <p:spPr/>
        <p:txBody>
          <a:bodyPr/>
          <a:lstStyle/>
          <a:p>
            <a:endParaRPr lang="es-CL"/>
          </a:p>
        </p:txBody>
      </p:sp>
      <p:sp>
        <p:nvSpPr>
          <p:cNvPr id="5" name="Marcador de pie de página 4">
            <a:extLst>
              <a:ext uri="{FF2B5EF4-FFF2-40B4-BE49-F238E27FC236}">
                <a16:creationId xmlns:a16="http://schemas.microsoft.com/office/drawing/2014/main" id="{B79D3494-4C66-9DA5-58D2-169887CF4C38}"/>
              </a:ext>
            </a:extLst>
          </p:cNvPr>
          <p:cNvSpPr>
            <a:spLocks noGrp="1"/>
          </p:cNvSpPr>
          <p:nvPr>
            <p:ph type="ftr" sz="quarter" idx="11"/>
          </p:nvPr>
        </p:nvSpPr>
        <p:spPr/>
        <p:txBody>
          <a:bodyPr/>
          <a:lstStyle/>
          <a:p>
            <a:r>
              <a:rPr lang="es-CL" dirty="0"/>
              <a:t>Taller OTree – DCCS 2024</a:t>
            </a:r>
          </a:p>
        </p:txBody>
      </p:sp>
      <p:sp>
        <p:nvSpPr>
          <p:cNvPr id="6" name="Marcador de número de diapositiva 5">
            <a:extLst>
              <a:ext uri="{FF2B5EF4-FFF2-40B4-BE49-F238E27FC236}">
                <a16:creationId xmlns:a16="http://schemas.microsoft.com/office/drawing/2014/main" id="{857BB2CA-C46A-E927-CDE5-ED5EC9ED5140}"/>
              </a:ext>
            </a:extLst>
          </p:cNvPr>
          <p:cNvSpPr>
            <a:spLocks noGrp="1"/>
          </p:cNvSpPr>
          <p:nvPr>
            <p:ph type="sldNum" sz="quarter" idx="12"/>
          </p:nvPr>
        </p:nvSpPr>
        <p:spPr/>
        <p:txBody>
          <a:bodyPr/>
          <a:lstStyle/>
          <a:p>
            <a:fld id="{19B08602-078C-4A74-AD07-C822C0FADE2C}" type="slidenum">
              <a:rPr lang="es-CL" smtClean="0"/>
              <a:t>‹Nº›</a:t>
            </a:fld>
            <a:endParaRPr lang="es-CL"/>
          </a:p>
        </p:txBody>
      </p:sp>
    </p:spTree>
    <p:extLst>
      <p:ext uri="{BB962C8B-B14F-4D97-AF65-F5344CB8AC3E}">
        <p14:creationId xmlns:p14="http://schemas.microsoft.com/office/powerpoint/2010/main" val="1285492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CF6C058-8FBB-585A-25D6-879ACCF49D2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9204B981-D433-0505-6B60-E772B29A0B4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9291D3FD-49FB-6BDC-6078-BB9602655812}"/>
              </a:ext>
            </a:extLst>
          </p:cNvPr>
          <p:cNvSpPr>
            <a:spLocks noGrp="1"/>
          </p:cNvSpPr>
          <p:nvPr>
            <p:ph type="dt" sz="half" idx="10"/>
          </p:nvPr>
        </p:nvSpPr>
        <p:spPr/>
        <p:txBody>
          <a:bodyPr/>
          <a:lstStyle/>
          <a:p>
            <a:endParaRPr lang="es-CL"/>
          </a:p>
        </p:txBody>
      </p:sp>
      <p:sp>
        <p:nvSpPr>
          <p:cNvPr id="5" name="Marcador de pie de página 4">
            <a:extLst>
              <a:ext uri="{FF2B5EF4-FFF2-40B4-BE49-F238E27FC236}">
                <a16:creationId xmlns:a16="http://schemas.microsoft.com/office/drawing/2014/main" id="{1A465F49-F6C4-5605-624E-A4CF0756B658}"/>
              </a:ext>
            </a:extLst>
          </p:cNvPr>
          <p:cNvSpPr>
            <a:spLocks noGrp="1"/>
          </p:cNvSpPr>
          <p:nvPr>
            <p:ph type="ftr" sz="quarter" idx="11"/>
          </p:nvPr>
        </p:nvSpPr>
        <p:spPr/>
        <p:txBody>
          <a:bodyPr/>
          <a:lstStyle/>
          <a:p>
            <a:r>
              <a:rPr lang="es-CL" dirty="0"/>
              <a:t>Taller OTree – DCCS 2024</a:t>
            </a:r>
          </a:p>
        </p:txBody>
      </p:sp>
      <p:sp>
        <p:nvSpPr>
          <p:cNvPr id="6" name="Marcador de número de diapositiva 5">
            <a:extLst>
              <a:ext uri="{FF2B5EF4-FFF2-40B4-BE49-F238E27FC236}">
                <a16:creationId xmlns:a16="http://schemas.microsoft.com/office/drawing/2014/main" id="{657FBC68-629E-4DDE-EDC1-BA3F6890B6EB}"/>
              </a:ext>
            </a:extLst>
          </p:cNvPr>
          <p:cNvSpPr>
            <a:spLocks noGrp="1"/>
          </p:cNvSpPr>
          <p:nvPr>
            <p:ph type="sldNum" sz="quarter" idx="12"/>
          </p:nvPr>
        </p:nvSpPr>
        <p:spPr/>
        <p:txBody>
          <a:bodyPr/>
          <a:lstStyle/>
          <a:p>
            <a:fld id="{19B08602-078C-4A74-AD07-C822C0FADE2C}" type="slidenum">
              <a:rPr lang="es-CL" smtClean="0"/>
              <a:t>‹Nº›</a:t>
            </a:fld>
            <a:endParaRPr lang="es-CL"/>
          </a:p>
        </p:txBody>
      </p:sp>
    </p:spTree>
    <p:extLst>
      <p:ext uri="{BB962C8B-B14F-4D97-AF65-F5344CB8AC3E}">
        <p14:creationId xmlns:p14="http://schemas.microsoft.com/office/powerpoint/2010/main" val="699691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02EE7FA-3A32-B95A-D675-67854ADB67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21EE091-3958-3E68-76A5-1891C8E1E1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L" dirty="0"/>
          </a:p>
        </p:txBody>
      </p:sp>
      <p:sp>
        <p:nvSpPr>
          <p:cNvPr id="4" name="Marcador de fecha 3">
            <a:extLst>
              <a:ext uri="{FF2B5EF4-FFF2-40B4-BE49-F238E27FC236}">
                <a16:creationId xmlns:a16="http://schemas.microsoft.com/office/drawing/2014/main" id="{4CEA3B1F-08E4-DB2A-154A-C47E8751DC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s-CL"/>
          </a:p>
        </p:txBody>
      </p:sp>
      <p:sp>
        <p:nvSpPr>
          <p:cNvPr id="5" name="Marcador de pie de página 4">
            <a:extLst>
              <a:ext uri="{FF2B5EF4-FFF2-40B4-BE49-F238E27FC236}">
                <a16:creationId xmlns:a16="http://schemas.microsoft.com/office/drawing/2014/main" id="{5282B309-3D45-E1CA-800D-02DD003AA8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82000"/>
                  </a:schemeClr>
                </a:solidFill>
              </a:defRPr>
            </a:lvl1pPr>
          </a:lstStyle>
          <a:p>
            <a:r>
              <a:rPr lang="es-CL" dirty="0"/>
              <a:t>Taller OTree – DCCS 2024</a:t>
            </a:r>
          </a:p>
        </p:txBody>
      </p:sp>
      <p:sp>
        <p:nvSpPr>
          <p:cNvPr id="6" name="Marcador de número de diapositiva 5">
            <a:extLst>
              <a:ext uri="{FF2B5EF4-FFF2-40B4-BE49-F238E27FC236}">
                <a16:creationId xmlns:a16="http://schemas.microsoft.com/office/drawing/2014/main" id="{EB681263-31B4-05A2-DA4C-88FB65A1C8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9B08602-078C-4A74-AD07-C822C0FADE2C}" type="slidenum">
              <a:rPr lang="es-CL" smtClean="0"/>
              <a:t>‹Nº›</a:t>
            </a:fld>
            <a:endParaRPr lang="es-CL" dirty="0"/>
          </a:p>
        </p:txBody>
      </p:sp>
      <p:pic>
        <p:nvPicPr>
          <p:cNvPr id="7" name="Imagen 6" descr="Logotipo, nombre de la empresa">
            <a:extLst>
              <a:ext uri="{FF2B5EF4-FFF2-40B4-BE49-F238E27FC236}">
                <a16:creationId xmlns:a16="http://schemas.microsoft.com/office/drawing/2014/main" id="{FE3E65B8-97BA-D50B-6804-2C665EE6E4F9}"/>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l="22632" t="32910" r="10533" b="32567"/>
          <a:stretch/>
        </p:blipFill>
        <p:spPr>
          <a:xfrm>
            <a:off x="278296" y="6253782"/>
            <a:ext cx="2057400" cy="558595"/>
          </a:xfrm>
          <a:prstGeom prst="rect">
            <a:avLst/>
          </a:prstGeom>
        </p:spPr>
      </p:pic>
    </p:spTree>
    <p:extLst>
      <p:ext uri="{BB962C8B-B14F-4D97-AF65-F5344CB8AC3E}">
        <p14:creationId xmlns:p14="http://schemas.microsoft.com/office/powerpoint/2010/main" val="2850243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DB4873-A0ED-FCAC-1B6B-33D28B015E27}"/>
              </a:ext>
            </a:extLst>
          </p:cNvPr>
          <p:cNvSpPr>
            <a:spLocks noGrp="1"/>
          </p:cNvSpPr>
          <p:nvPr>
            <p:ph type="ctrTitle"/>
          </p:nvPr>
        </p:nvSpPr>
        <p:spPr/>
        <p:txBody>
          <a:bodyPr>
            <a:normAutofit/>
          </a:bodyPr>
          <a:lstStyle/>
          <a:p>
            <a:r>
              <a:rPr lang="es-CL" sz="6000" dirty="0"/>
              <a:t>Taller OTree DCCS</a:t>
            </a:r>
            <a:br>
              <a:rPr lang="es-CL" sz="6000" dirty="0"/>
            </a:br>
            <a:r>
              <a:rPr lang="es-CL" sz="5400" dirty="0"/>
              <a:t>Clase 4</a:t>
            </a:r>
            <a:endParaRPr lang="es-CL" dirty="0"/>
          </a:p>
        </p:txBody>
      </p:sp>
      <p:sp>
        <p:nvSpPr>
          <p:cNvPr id="3" name="Subtítulo 2">
            <a:extLst>
              <a:ext uri="{FF2B5EF4-FFF2-40B4-BE49-F238E27FC236}">
                <a16:creationId xmlns:a16="http://schemas.microsoft.com/office/drawing/2014/main" id="{DDA2E08F-2461-7E6E-6A0E-99DE9A04407C}"/>
              </a:ext>
            </a:extLst>
          </p:cNvPr>
          <p:cNvSpPr>
            <a:spLocks noGrp="1"/>
          </p:cNvSpPr>
          <p:nvPr>
            <p:ph type="subTitle" idx="1"/>
          </p:nvPr>
        </p:nvSpPr>
        <p:spPr>
          <a:xfrm>
            <a:off x="1524000" y="3927158"/>
            <a:ext cx="9144000" cy="1655762"/>
          </a:xfrm>
        </p:spPr>
        <p:txBody>
          <a:bodyPr>
            <a:normAutofit/>
          </a:bodyPr>
          <a:lstStyle/>
          <a:p>
            <a:r>
              <a:rPr lang="es-CL" sz="2800" dirty="0"/>
              <a:t>1</a:t>
            </a:r>
            <a:r>
              <a:rPr lang="es-CL" sz="2800" baseline="30000" dirty="0"/>
              <a:t>er</a:t>
            </a:r>
            <a:r>
              <a:rPr lang="es-CL" sz="2800" dirty="0"/>
              <a:t> Semestre 2024</a:t>
            </a:r>
          </a:p>
          <a:p>
            <a:endParaRPr lang="es-CL" sz="2800" dirty="0"/>
          </a:p>
          <a:p>
            <a:r>
              <a:rPr lang="es-CL" sz="2800" dirty="0"/>
              <a:t>Alejandra Molina</a:t>
            </a:r>
            <a:endParaRPr lang="es-CL" dirty="0"/>
          </a:p>
        </p:txBody>
      </p:sp>
    </p:spTree>
    <p:extLst>
      <p:ext uri="{BB962C8B-B14F-4D97-AF65-F5344CB8AC3E}">
        <p14:creationId xmlns:p14="http://schemas.microsoft.com/office/powerpoint/2010/main" val="4044822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10F781-EAE8-D1AE-E0A5-A07A613222C2}"/>
              </a:ext>
            </a:extLst>
          </p:cNvPr>
          <p:cNvSpPr>
            <a:spLocks noGrp="1"/>
          </p:cNvSpPr>
          <p:nvPr>
            <p:ph type="title"/>
          </p:nvPr>
        </p:nvSpPr>
        <p:spPr/>
        <p:txBody>
          <a:bodyPr/>
          <a:lstStyle/>
          <a:p>
            <a:r>
              <a:rPr lang="es-CL" dirty="0"/>
              <a:t>Asignación a grupos y tratamientos</a:t>
            </a:r>
          </a:p>
        </p:txBody>
      </p:sp>
      <p:sp>
        <p:nvSpPr>
          <p:cNvPr id="3" name="Marcador de contenido 2">
            <a:extLst>
              <a:ext uri="{FF2B5EF4-FFF2-40B4-BE49-F238E27FC236}">
                <a16:creationId xmlns:a16="http://schemas.microsoft.com/office/drawing/2014/main" id="{727FFF95-EFEE-B9A5-BE49-FE76478144B0}"/>
              </a:ext>
            </a:extLst>
          </p:cNvPr>
          <p:cNvSpPr>
            <a:spLocks noGrp="1"/>
          </p:cNvSpPr>
          <p:nvPr>
            <p:ph idx="1"/>
          </p:nvPr>
        </p:nvSpPr>
        <p:spPr>
          <a:xfrm>
            <a:off x="6507480" y="1976755"/>
            <a:ext cx="4516120" cy="4077335"/>
          </a:xfrm>
        </p:spPr>
        <p:style>
          <a:lnRef idx="3">
            <a:schemeClr val="lt1"/>
          </a:lnRef>
          <a:fillRef idx="1">
            <a:schemeClr val="accent1"/>
          </a:fillRef>
          <a:effectRef idx="1">
            <a:schemeClr val="accent1"/>
          </a:effectRef>
          <a:fontRef idx="minor">
            <a:schemeClr val="lt1"/>
          </a:fontRef>
        </p:style>
        <p:txBody>
          <a:bodyPr/>
          <a:lstStyle/>
          <a:p>
            <a:pPr marL="0" indent="0">
              <a:buNone/>
            </a:pPr>
            <a:r>
              <a:rPr lang="es-CL" b="1" dirty="0"/>
              <a:t>Tratamientos:</a:t>
            </a:r>
          </a:p>
          <a:p>
            <a:r>
              <a:rPr lang="es-CL" dirty="0"/>
              <a:t>Los participantes de una sesión se dividen para acceder a </a:t>
            </a:r>
            <a:r>
              <a:rPr lang="es-CL" b="1" dirty="0"/>
              <a:t>distintas tareas </a:t>
            </a:r>
            <a:r>
              <a:rPr lang="es-CL" dirty="0"/>
              <a:t>o distintas versiones de una tarea.</a:t>
            </a:r>
          </a:p>
          <a:p>
            <a:r>
              <a:rPr lang="es-CL" dirty="0"/>
              <a:t>Los tratamientos pueden asignarse a nivel de jugador o de grupo.</a:t>
            </a:r>
          </a:p>
        </p:txBody>
      </p:sp>
      <p:sp>
        <p:nvSpPr>
          <p:cNvPr id="4" name="Marcador de pie de página 3">
            <a:extLst>
              <a:ext uri="{FF2B5EF4-FFF2-40B4-BE49-F238E27FC236}">
                <a16:creationId xmlns:a16="http://schemas.microsoft.com/office/drawing/2014/main" id="{248AADE9-1E64-713F-99B7-3F7DFE182B0A}"/>
              </a:ext>
            </a:extLst>
          </p:cNvPr>
          <p:cNvSpPr>
            <a:spLocks noGrp="1"/>
          </p:cNvSpPr>
          <p:nvPr>
            <p:ph type="ftr" sz="quarter" idx="11"/>
          </p:nvPr>
        </p:nvSpPr>
        <p:spPr/>
        <p:txBody>
          <a:bodyPr/>
          <a:lstStyle/>
          <a:p>
            <a:r>
              <a:rPr lang="es-CL"/>
              <a:t>Taller OTree – DCCS 2024</a:t>
            </a:r>
            <a:endParaRPr lang="es-CL" dirty="0"/>
          </a:p>
        </p:txBody>
      </p:sp>
      <p:sp>
        <p:nvSpPr>
          <p:cNvPr id="5" name="Marcador de número de diapositiva 4">
            <a:extLst>
              <a:ext uri="{FF2B5EF4-FFF2-40B4-BE49-F238E27FC236}">
                <a16:creationId xmlns:a16="http://schemas.microsoft.com/office/drawing/2014/main" id="{0EE21BEB-3101-493C-6245-E519ED9DD606}"/>
              </a:ext>
            </a:extLst>
          </p:cNvPr>
          <p:cNvSpPr>
            <a:spLocks noGrp="1"/>
          </p:cNvSpPr>
          <p:nvPr>
            <p:ph type="sldNum" sz="quarter" idx="12"/>
          </p:nvPr>
        </p:nvSpPr>
        <p:spPr/>
        <p:txBody>
          <a:bodyPr/>
          <a:lstStyle/>
          <a:p>
            <a:fld id="{19B08602-078C-4A74-AD07-C822C0FADE2C}" type="slidenum">
              <a:rPr lang="es-CL" smtClean="0"/>
              <a:t>2</a:t>
            </a:fld>
            <a:endParaRPr lang="es-CL"/>
          </a:p>
        </p:txBody>
      </p:sp>
      <p:sp>
        <p:nvSpPr>
          <p:cNvPr id="6" name="Marcador de contenido 2">
            <a:extLst>
              <a:ext uri="{FF2B5EF4-FFF2-40B4-BE49-F238E27FC236}">
                <a16:creationId xmlns:a16="http://schemas.microsoft.com/office/drawing/2014/main" id="{0B744260-DD94-E700-7B9B-4FCB43F87274}"/>
              </a:ext>
            </a:extLst>
          </p:cNvPr>
          <p:cNvSpPr txBox="1">
            <a:spLocks/>
          </p:cNvSpPr>
          <p:nvPr/>
        </p:nvSpPr>
        <p:spPr>
          <a:xfrm>
            <a:off x="990600" y="1978025"/>
            <a:ext cx="4516120" cy="4077335"/>
          </a:xfrm>
          <a:prstGeom prst="rect">
            <a:avLst/>
          </a:prstGeom>
        </p:spPr>
        <p:style>
          <a:lnRef idx="3">
            <a:schemeClr val="lt1"/>
          </a:lnRef>
          <a:fillRef idx="1">
            <a:schemeClr val="accent2"/>
          </a:fillRef>
          <a:effectRef idx="1">
            <a:schemeClr val="accent2"/>
          </a:effectRef>
          <a:fontRef idx="minor">
            <a:schemeClr val="lt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L" b="1" dirty="0">
                <a:solidFill>
                  <a:schemeClr val="bg1"/>
                </a:solidFill>
              </a:rPr>
              <a:t>Grupos</a:t>
            </a:r>
            <a:r>
              <a:rPr lang="es-CL" dirty="0">
                <a:solidFill>
                  <a:schemeClr val="bg1"/>
                </a:solidFill>
              </a:rPr>
              <a:t>:</a:t>
            </a:r>
          </a:p>
          <a:p>
            <a:r>
              <a:rPr lang="es-CL" dirty="0">
                <a:solidFill>
                  <a:schemeClr val="bg1"/>
                </a:solidFill>
              </a:rPr>
              <a:t>Los participantes de una sesión se dividen para formar grupos en </a:t>
            </a:r>
            <a:r>
              <a:rPr lang="es-CL" b="1" dirty="0">
                <a:solidFill>
                  <a:schemeClr val="bg1"/>
                </a:solidFill>
              </a:rPr>
              <a:t>tareas  multijugador</a:t>
            </a:r>
            <a:r>
              <a:rPr lang="es-CL" dirty="0">
                <a:solidFill>
                  <a:schemeClr val="bg1"/>
                </a:solidFill>
              </a:rPr>
              <a:t> (de 2 o más).</a:t>
            </a:r>
          </a:p>
        </p:txBody>
      </p:sp>
    </p:spTree>
    <p:extLst>
      <p:ext uri="{BB962C8B-B14F-4D97-AF65-F5344CB8AC3E}">
        <p14:creationId xmlns:p14="http://schemas.microsoft.com/office/powerpoint/2010/main" val="473153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7057EC-D5CB-0DA7-A455-AB9217B3B64F}"/>
              </a:ext>
            </a:extLst>
          </p:cNvPr>
          <p:cNvSpPr>
            <a:spLocks noGrp="1"/>
          </p:cNvSpPr>
          <p:nvPr>
            <p:ph type="title"/>
          </p:nvPr>
        </p:nvSpPr>
        <p:spPr>
          <a:xfrm>
            <a:off x="838200" y="136525"/>
            <a:ext cx="10515600" cy="981075"/>
          </a:xfrm>
        </p:spPr>
        <p:txBody>
          <a:bodyPr/>
          <a:lstStyle/>
          <a:p>
            <a:pPr algn="ctr"/>
            <a:r>
              <a:rPr lang="es-CL" dirty="0"/>
              <a:t>Asignación de jugadores a los grupos</a:t>
            </a:r>
          </a:p>
        </p:txBody>
      </p:sp>
      <p:sp>
        <p:nvSpPr>
          <p:cNvPr id="3" name="Marcador de contenido 2">
            <a:extLst>
              <a:ext uri="{FF2B5EF4-FFF2-40B4-BE49-F238E27FC236}">
                <a16:creationId xmlns:a16="http://schemas.microsoft.com/office/drawing/2014/main" id="{7E11809D-07A2-141F-A863-BD290955D797}"/>
              </a:ext>
            </a:extLst>
          </p:cNvPr>
          <p:cNvSpPr>
            <a:spLocks noGrp="1"/>
          </p:cNvSpPr>
          <p:nvPr>
            <p:ph idx="1"/>
          </p:nvPr>
        </p:nvSpPr>
        <p:spPr>
          <a:xfrm>
            <a:off x="467360" y="1117600"/>
            <a:ext cx="11440160" cy="5374640"/>
          </a:xfrm>
        </p:spPr>
        <p:txBody>
          <a:bodyPr>
            <a:normAutofit/>
          </a:bodyPr>
          <a:lstStyle/>
          <a:p>
            <a:pPr marL="0" indent="0" algn="ctr">
              <a:buNone/>
            </a:pPr>
            <a:r>
              <a:rPr lang="es-CL" sz="2400" dirty="0"/>
              <a:t>¿Dónde y cómo configuro esto?</a:t>
            </a:r>
          </a:p>
          <a:p>
            <a:pPr marL="0" indent="0">
              <a:buNone/>
            </a:pPr>
            <a:endParaRPr lang="es-CL" sz="2400" dirty="0"/>
          </a:p>
          <a:p>
            <a:pPr marL="457200" indent="-457200">
              <a:buFont typeface="+mj-lt"/>
              <a:buAutoNum type="arabicPeriod"/>
            </a:pPr>
            <a:r>
              <a:rPr lang="es-CL" sz="2600" dirty="0"/>
              <a:t>Definir el tamaño del grupo en variable PLAYERS_PER_GROUP (Clase C).</a:t>
            </a:r>
          </a:p>
          <a:p>
            <a:pPr marL="457200" indent="-457200">
              <a:buFont typeface="+mj-lt"/>
              <a:buAutoNum type="arabicPeriod"/>
            </a:pPr>
            <a:endParaRPr lang="es-CL" sz="2400" dirty="0"/>
          </a:p>
          <a:p>
            <a:pPr marL="457200" indent="-457200">
              <a:buFont typeface="+mj-lt"/>
              <a:buAutoNum type="arabicPeriod"/>
            </a:pPr>
            <a:r>
              <a:rPr lang="es-CL" sz="2600" dirty="0"/>
              <a:t>Definir el tipo de asignación </a:t>
            </a:r>
          </a:p>
          <a:p>
            <a:pPr marL="914400" lvl="1" indent="-457200">
              <a:buFont typeface="+mj-lt"/>
              <a:buAutoNum type="alphaLcPeriod"/>
            </a:pPr>
            <a:r>
              <a:rPr lang="es-CL" dirty="0"/>
              <a:t>Por defecto: aleatorio. (No se completa nada en ninguna parte del código)</a:t>
            </a:r>
          </a:p>
          <a:p>
            <a:pPr marL="914400" lvl="1" indent="-457200">
              <a:buFont typeface="+mj-lt"/>
              <a:buAutoNum type="alphaLcPeriod"/>
            </a:pPr>
            <a:r>
              <a:rPr lang="es-CL" dirty="0"/>
              <a:t>Al comienzo de la sesión con la función: </a:t>
            </a:r>
            <a:r>
              <a:rPr lang="es-CL" dirty="0" err="1"/>
              <a:t>creating_session</a:t>
            </a:r>
            <a:r>
              <a:rPr lang="es-CL" dirty="0"/>
              <a:t>()</a:t>
            </a:r>
          </a:p>
          <a:p>
            <a:pPr marL="914400" lvl="1" indent="-457200">
              <a:buFont typeface="+mj-lt"/>
              <a:buAutoNum type="alphaLcPeriod"/>
            </a:pPr>
            <a:r>
              <a:rPr lang="es-CL" dirty="0"/>
              <a:t>Entremedio de la sesión con una </a:t>
            </a:r>
            <a:r>
              <a:rPr lang="es-CL" dirty="0" err="1"/>
              <a:t>WaitPage</a:t>
            </a:r>
            <a:r>
              <a:rPr lang="es-CL" dirty="0"/>
              <a:t> especial: </a:t>
            </a:r>
            <a:r>
              <a:rPr lang="es-CL" dirty="0" err="1"/>
              <a:t>ShuffleWaitPage</a:t>
            </a:r>
            <a:endParaRPr lang="es-CL" dirty="0"/>
          </a:p>
          <a:p>
            <a:pPr marL="914400" lvl="1" indent="-457200">
              <a:buFont typeface="+mj-lt"/>
              <a:buAutoNum type="alphaLcPeriod"/>
            </a:pPr>
            <a:r>
              <a:rPr lang="es-CL" dirty="0"/>
              <a:t>Agrupar a las personas por orden de llegada a una </a:t>
            </a:r>
            <a:r>
              <a:rPr lang="es-CL" dirty="0" err="1"/>
              <a:t>WaitPage</a:t>
            </a:r>
            <a:endParaRPr lang="es-CL" dirty="0"/>
          </a:p>
          <a:p>
            <a:pPr marL="0" indent="0">
              <a:buNone/>
            </a:pPr>
            <a:endParaRPr lang="es-CL" sz="2400" dirty="0"/>
          </a:p>
          <a:p>
            <a:endParaRPr lang="es-CL" sz="2400" dirty="0"/>
          </a:p>
          <a:p>
            <a:pPr marL="0" indent="0">
              <a:buNone/>
            </a:pPr>
            <a:endParaRPr lang="es-CL" sz="2400" dirty="0"/>
          </a:p>
          <a:p>
            <a:endParaRPr lang="es-CL" sz="2400" dirty="0"/>
          </a:p>
          <a:p>
            <a:endParaRPr lang="es-CL" sz="2400" dirty="0"/>
          </a:p>
        </p:txBody>
      </p:sp>
      <p:sp>
        <p:nvSpPr>
          <p:cNvPr id="4" name="Marcador de pie de página 3">
            <a:extLst>
              <a:ext uri="{FF2B5EF4-FFF2-40B4-BE49-F238E27FC236}">
                <a16:creationId xmlns:a16="http://schemas.microsoft.com/office/drawing/2014/main" id="{FE5FFA0A-0244-22B5-6B2C-6ED2CDF2FA2F}"/>
              </a:ext>
            </a:extLst>
          </p:cNvPr>
          <p:cNvSpPr>
            <a:spLocks noGrp="1"/>
          </p:cNvSpPr>
          <p:nvPr>
            <p:ph type="ftr" sz="quarter" idx="11"/>
          </p:nvPr>
        </p:nvSpPr>
        <p:spPr/>
        <p:txBody>
          <a:bodyPr/>
          <a:lstStyle/>
          <a:p>
            <a:r>
              <a:rPr lang="es-CL" dirty="0"/>
              <a:t>Taller OTree – DCCS 2024</a:t>
            </a:r>
          </a:p>
        </p:txBody>
      </p:sp>
      <p:sp>
        <p:nvSpPr>
          <p:cNvPr id="5" name="Marcador de número de diapositiva 4">
            <a:extLst>
              <a:ext uri="{FF2B5EF4-FFF2-40B4-BE49-F238E27FC236}">
                <a16:creationId xmlns:a16="http://schemas.microsoft.com/office/drawing/2014/main" id="{56DC33DF-C121-1B2A-EC11-A93511D1501E}"/>
              </a:ext>
            </a:extLst>
          </p:cNvPr>
          <p:cNvSpPr>
            <a:spLocks noGrp="1"/>
          </p:cNvSpPr>
          <p:nvPr>
            <p:ph type="sldNum" sz="quarter" idx="12"/>
          </p:nvPr>
        </p:nvSpPr>
        <p:spPr/>
        <p:txBody>
          <a:bodyPr/>
          <a:lstStyle/>
          <a:p>
            <a:fld id="{19B08602-078C-4A74-AD07-C822C0FADE2C}" type="slidenum">
              <a:rPr lang="es-CL" smtClean="0"/>
              <a:t>3</a:t>
            </a:fld>
            <a:endParaRPr lang="es-CL"/>
          </a:p>
        </p:txBody>
      </p:sp>
    </p:spTree>
    <p:extLst>
      <p:ext uri="{BB962C8B-B14F-4D97-AF65-F5344CB8AC3E}">
        <p14:creationId xmlns:p14="http://schemas.microsoft.com/office/powerpoint/2010/main" val="1427225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E5F65F-F576-F5D6-D3A6-0125F2AACC91}"/>
              </a:ext>
            </a:extLst>
          </p:cNvPr>
          <p:cNvSpPr>
            <a:spLocks noGrp="1"/>
          </p:cNvSpPr>
          <p:nvPr>
            <p:ph type="title"/>
          </p:nvPr>
        </p:nvSpPr>
        <p:spPr>
          <a:xfrm>
            <a:off x="728472" y="0"/>
            <a:ext cx="11331448" cy="723011"/>
          </a:xfrm>
        </p:spPr>
        <p:txBody>
          <a:bodyPr>
            <a:normAutofit/>
          </a:bodyPr>
          <a:lstStyle/>
          <a:p>
            <a:r>
              <a:rPr lang="es-CL" sz="4400" i="1" dirty="0" err="1"/>
              <a:t>creating_session</a:t>
            </a:r>
            <a:r>
              <a:rPr lang="es-CL" sz="4400" i="1" dirty="0"/>
              <a:t>(): </a:t>
            </a:r>
            <a:r>
              <a:rPr lang="es-CL" sz="3600" dirty="0"/>
              <a:t>Se ejecuta al inicio de la </a:t>
            </a:r>
            <a:r>
              <a:rPr lang="es-CL" sz="3600" dirty="0">
                <a:solidFill>
                  <a:srgbClr val="FF0000"/>
                </a:solidFill>
              </a:rPr>
              <a:t>sesión</a:t>
            </a:r>
            <a:endParaRPr lang="es-CL" dirty="0">
              <a:solidFill>
                <a:srgbClr val="FF0000"/>
              </a:solidFill>
            </a:endParaRPr>
          </a:p>
        </p:txBody>
      </p:sp>
      <p:pic>
        <p:nvPicPr>
          <p:cNvPr id="7" name="Marcador de contenido 6">
            <a:extLst>
              <a:ext uri="{FF2B5EF4-FFF2-40B4-BE49-F238E27FC236}">
                <a16:creationId xmlns:a16="http://schemas.microsoft.com/office/drawing/2014/main" id="{9CF2C94F-56F6-6578-6267-70420C9CFAAF}"/>
              </a:ext>
            </a:extLst>
          </p:cNvPr>
          <p:cNvPicPr>
            <a:picLocks noGrp="1" noChangeAspect="1"/>
          </p:cNvPicPr>
          <p:nvPr>
            <p:ph sz="half" idx="1"/>
          </p:nvPr>
        </p:nvPicPr>
        <p:blipFill>
          <a:blip r:embed="rId2"/>
          <a:stretch>
            <a:fillRect/>
          </a:stretch>
        </p:blipFill>
        <p:spPr>
          <a:xfrm>
            <a:off x="599865" y="667511"/>
            <a:ext cx="4013438" cy="5509451"/>
          </a:xfrm>
        </p:spPr>
      </p:pic>
      <p:sp>
        <p:nvSpPr>
          <p:cNvPr id="9" name="Marcador de contenido 8">
            <a:extLst>
              <a:ext uri="{FF2B5EF4-FFF2-40B4-BE49-F238E27FC236}">
                <a16:creationId xmlns:a16="http://schemas.microsoft.com/office/drawing/2014/main" id="{7930F747-1DA2-BE2C-6603-66A2488662F7}"/>
              </a:ext>
            </a:extLst>
          </p:cNvPr>
          <p:cNvSpPr>
            <a:spLocks noGrp="1"/>
          </p:cNvSpPr>
          <p:nvPr>
            <p:ph sz="half" idx="2"/>
          </p:nvPr>
        </p:nvSpPr>
        <p:spPr>
          <a:xfrm>
            <a:off x="4764024" y="667511"/>
            <a:ext cx="7427976" cy="6053964"/>
          </a:xfrm>
        </p:spPr>
        <p:txBody>
          <a:bodyPr>
            <a:normAutofit/>
          </a:bodyPr>
          <a:lstStyle/>
          <a:p>
            <a:r>
              <a:rPr lang="es-CL" sz="2000" dirty="0"/>
              <a:t>Todas las rondas se mezclan de forma aleatoria:</a:t>
            </a:r>
          </a:p>
          <a:p>
            <a:pPr marL="457200" lvl="1" indent="0">
              <a:buNone/>
            </a:pPr>
            <a:r>
              <a:rPr lang="es-CL" sz="1600" i="1" dirty="0" err="1"/>
              <a:t>subsession.group_randomly</a:t>
            </a:r>
            <a:r>
              <a:rPr lang="es-CL" sz="1600" i="1" dirty="0"/>
              <a:t>()</a:t>
            </a:r>
          </a:p>
          <a:p>
            <a:r>
              <a:rPr lang="es-CL" sz="2000" dirty="0"/>
              <a:t>Todas las rondas se mezclan de forma aleatoria pero el ID dentro del grupo se mantiene en todas las rondas:</a:t>
            </a:r>
          </a:p>
          <a:p>
            <a:pPr marL="457200" lvl="1" indent="0">
              <a:buNone/>
            </a:pPr>
            <a:r>
              <a:rPr lang="es-CL" sz="1600" i="1" dirty="0" err="1"/>
              <a:t>subsession</a:t>
            </a:r>
            <a:r>
              <a:rPr lang="es-CL" sz="1600" i="1" dirty="0"/>
              <a:t>. </a:t>
            </a:r>
            <a:r>
              <a:rPr lang="es-CL" sz="1600" i="1" dirty="0" err="1"/>
              <a:t>group_randomly</a:t>
            </a:r>
            <a:r>
              <a:rPr lang="es-CL" sz="1600" i="1" dirty="0"/>
              <a:t>(</a:t>
            </a:r>
            <a:r>
              <a:rPr lang="es-CL" sz="1600" i="1" dirty="0" err="1"/>
              <a:t>fixed_id_in_group</a:t>
            </a:r>
            <a:r>
              <a:rPr lang="es-CL" sz="1600" i="1" dirty="0"/>
              <a:t>=True)</a:t>
            </a:r>
          </a:p>
          <a:p>
            <a:r>
              <a:rPr lang="es-CL" sz="2000" dirty="0"/>
              <a:t>Mantener la agrupación de una ronda en particular:</a:t>
            </a:r>
          </a:p>
          <a:p>
            <a:pPr marL="457200" lvl="1" indent="0">
              <a:buNone/>
            </a:pPr>
            <a:r>
              <a:rPr lang="es-CL" sz="1600" i="1" dirty="0" err="1"/>
              <a:t>subsession</a:t>
            </a:r>
            <a:r>
              <a:rPr lang="es-CL" sz="1600" i="1" dirty="0"/>
              <a:t>. </a:t>
            </a:r>
            <a:r>
              <a:rPr lang="es-CL" sz="1600" i="1" dirty="0" err="1"/>
              <a:t>group_like_round</a:t>
            </a:r>
            <a:r>
              <a:rPr lang="es-CL" sz="1600" i="1" dirty="0"/>
              <a:t>()</a:t>
            </a:r>
          </a:p>
          <a:p>
            <a:endParaRPr lang="es-CL" sz="2000" dirty="0"/>
          </a:p>
          <a:p>
            <a:endParaRPr lang="es-CL" sz="2000" dirty="0"/>
          </a:p>
          <a:p>
            <a:endParaRPr lang="es-CL" sz="2000" dirty="0"/>
          </a:p>
          <a:p>
            <a:r>
              <a:rPr lang="es-CL" sz="2000" dirty="0"/>
              <a:t>Definir de forma manual los grupos:</a:t>
            </a:r>
          </a:p>
          <a:p>
            <a:pPr marL="457200" lvl="1" indent="0">
              <a:buNone/>
            </a:pPr>
            <a:r>
              <a:rPr lang="es-CL" sz="1600" i="1" dirty="0" err="1"/>
              <a:t>subsession.get_group_matrix</a:t>
            </a:r>
            <a:r>
              <a:rPr lang="es-CL" sz="1600" i="1" dirty="0"/>
              <a:t>()   </a:t>
            </a:r>
            <a:r>
              <a:rPr lang="es-CL" sz="1600" dirty="0"/>
              <a:t>:  Obtener la matriz de los grupos</a:t>
            </a:r>
          </a:p>
          <a:p>
            <a:pPr marL="457200" lvl="1" indent="0">
              <a:buNone/>
            </a:pPr>
            <a:endParaRPr lang="es-CL" sz="1600" dirty="0"/>
          </a:p>
          <a:p>
            <a:pPr marL="457200" lvl="1" indent="0">
              <a:buNone/>
            </a:pPr>
            <a:endParaRPr lang="es-CL" sz="1600" dirty="0"/>
          </a:p>
          <a:p>
            <a:pPr marL="457200" lvl="1" indent="0">
              <a:buNone/>
            </a:pPr>
            <a:endParaRPr lang="es-CL" sz="1600" dirty="0"/>
          </a:p>
          <a:p>
            <a:pPr marL="457200" lvl="1" indent="0">
              <a:buNone/>
            </a:pPr>
            <a:endParaRPr lang="es-CL" sz="1600" i="1" dirty="0"/>
          </a:p>
          <a:p>
            <a:pPr marL="457200" lvl="1" indent="0">
              <a:buNone/>
            </a:pPr>
            <a:r>
              <a:rPr lang="es-CL" sz="1600" i="1" dirty="0" err="1"/>
              <a:t>subsession.set_group_matrix</a:t>
            </a:r>
            <a:r>
              <a:rPr lang="es-CL" sz="1600" i="1" dirty="0"/>
              <a:t>(</a:t>
            </a:r>
            <a:r>
              <a:rPr lang="es-CL" sz="1600" i="1" dirty="0" err="1"/>
              <a:t>nueva_matriz</a:t>
            </a:r>
            <a:r>
              <a:rPr lang="es-CL" sz="1600" i="1" dirty="0"/>
              <a:t>) </a:t>
            </a:r>
            <a:r>
              <a:rPr lang="es-CL" sz="1600" dirty="0"/>
              <a:t>: Ingresar una matriz de grupos</a:t>
            </a:r>
          </a:p>
          <a:p>
            <a:pPr marL="457200" lvl="1" indent="0">
              <a:buNone/>
            </a:pPr>
            <a:endParaRPr lang="es-CL" sz="1600" dirty="0"/>
          </a:p>
          <a:p>
            <a:endParaRPr lang="es-CL" sz="2000" dirty="0"/>
          </a:p>
          <a:p>
            <a:endParaRPr lang="es-CL" sz="2000" dirty="0"/>
          </a:p>
          <a:p>
            <a:endParaRPr lang="es-CL" sz="2000" dirty="0"/>
          </a:p>
        </p:txBody>
      </p:sp>
      <p:sp>
        <p:nvSpPr>
          <p:cNvPr id="5" name="Marcador de número de diapositiva 4">
            <a:extLst>
              <a:ext uri="{FF2B5EF4-FFF2-40B4-BE49-F238E27FC236}">
                <a16:creationId xmlns:a16="http://schemas.microsoft.com/office/drawing/2014/main" id="{47C7FA3B-3398-BDC3-F56A-5A1B1218F392}"/>
              </a:ext>
            </a:extLst>
          </p:cNvPr>
          <p:cNvSpPr>
            <a:spLocks noGrp="1"/>
          </p:cNvSpPr>
          <p:nvPr>
            <p:ph type="sldNum" sz="quarter" idx="12"/>
          </p:nvPr>
        </p:nvSpPr>
        <p:spPr/>
        <p:txBody>
          <a:bodyPr/>
          <a:lstStyle/>
          <a:p>
            <a:fld id="{19B08602-078C-4A74-AD07-C822C0FADE2C}" type="slidenum">
              <a:rPr lang="es-CL" smtClean="0"/>
              <a:t>4</a:t>
            </a:fld>
            <a:endParaRPr lang="es-CL" dirty="0"/>
          </a:p>
        </p:txBody>
      </p:sp>
      <p:sp>
        <p:nvSpPr>
          <p:cNvPr id="8" name="Rectángulo 7">
            <a:extLst>
              <a:ext uri="{FF2B5EF4-FFF2-40B4-BE49-F238E27FC236}">
                <a16:creationId xmlns:a16="http://schemas.microsoft.com/office/drawing/2014/main" id="{710FCDAA-2904-BE11-5642-7DE15079D504}"/>
              </a:ext>
            </a:extLst>
          </p:cNvPr>
          <p:cNvSpPr/>
          <p:nvPr/>
        </p:nvSpPr>
        <p:spPr>
          <a:xfrm>
            <a:off x="599864" y="4238513"/>
            <a:ext cx="4004409" cy="957431"/>
          </a:xfrm>
          <a:prstGeom prst="rect">
            <a:avLst/>
          </a:prstGeom>
          <a:noFill/>
          <a:ln w="5715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s-CL"/>
          </a:p>
        </p:txBody>
      </p:sp>
      <p:pic>
        <p:nvPicPr>
          <p:cNvPr id="13" name="Imagen 12">
            <a:extLst>
              <a:ext uri="{FF2B5EF4-FFF2-40B4-BE49-F238E27FC236}">
                <a16:creationId xmlns:a16="http://schemas.microsoft.com/office/drawing/2014/main" id="{42B6E39D-5C81-2114-CF04-17CEBE43C6E9}"/>
              </a:ext>
            </a:extLst>
          </p:cNvPr>
          <p:cNvPicPr>
            <a:picLocks noChangeAspect="1"/>
          </p:cNvPicPr>
          <p:nvPr/>
        </p:nvPicPr>
        <p:blipFill>
          <a:blip r:embed="rId3"/>
          <a:stretch>
            <a:fillRect/>
          </a:stretch>
        </p:blipFill>
        <p:spPr>
          <a:xfrm>
            <a:off x="8810477" y="5543890"/>
            <a:ext cx="2619741" cy="295316"/>
          </a:xfrm>
          <a:prstGeom prst="rect">
            <a:avLst/>
          </a:prstGeom>
        </p:spPr>
      </p:pic>
      <p:pic>
        <p:nvPicPr>
          <p:cNvPr id="15" name="Imagen 14">
            <a:extLst>
              <a:ext uri="{FF2B5EF4-FFF2-40B4-BE49-F238E27FC236}">
                <a16:creationId xmlns:a16="http://schemas.microsoft.com/office/drawing/2014/main" id="{1B3B0D3A-5F22-388D-28A7-1196CED70861}"/>
              </a:ext>
            </a:extLst>
          </p:cNvPr>
          <p:cNvPicPr>
            <a:picLocks noChangeAspect="1"/>
          </p:cNvPicPr>
          <p:nvPr/>
        </p:nvPicPr>
        <p:blipFill>
          <a:blip r:embed="rId4"/>
          <a:stretch>
            <a:fillRect/>
          </a:stretch>
        </p:blipFill>
        <p:spPr>
          <a:xfrm>
            <a:off x="7848318" y="4868649"/>
            <a:ext cx="3581900" cy="638264"/>
          </a:xfrm>
          <a:prstGeom prst="rect">
            <a:avLst/>
          </a:prstGeom>
        </p:spPr>
      </p:pic>
      <p:sp>
        <p:nvSpPr>
          <p:cNvPr id="16" name="CuadroTexto 15">
            <a:extLst>
              <a:ext uri="{FF2B5EF4-FFF2-40B4-BE49-F238E27FC236}">
                <a16:creationId xmlns:a16="http://schemas.microsoft.com/office/drawing/2014/main" id="{55ED86EC-FC5E-E199-AAB1-1CC3883EC2E6}"/>
              </a:ext>
            </a:extLst>
          </p:cNvPr>
          <p:cNvSpPr txBox="1"/>
          <p:nvPr/>
        </p:nvSpPr>
        <p:spPr>
          <a:xfrm>
            <a:off x="7833874" y="5551851"/>
            <a:ext cx="1075944" cy="307777"/>
          </a:xfrm>
          <a:prstGeom prst="rect">
            <a:avLst/>
          </a:prstGeom>
          <a:noFill/>
        </p:spPr>
        <p:txBody>
          <a:bodyPr wrap="square" rtlCol="0">
            <a:spAutoFit/>
          </a:bodyPr>
          <a:lstStyle/>
          <a:p>
            <a:r>
              <a:rPr lang="es-CL" sz="1400" dirty="0">
                <a:solidFill>
                  <a:srgbClr val="FF0000"/>
                </a:solidFill>
              </a:rPr>
              <a:t>Salida-&gt;</a:t>
            </a:r>
          </a:p>
        </p:txBody>
      </p:sp>
      <p:sp>
        <p:nvSpPr>
          <p:cNvPr id="19" name="CuadroTexto 18">
            <a:extLst>
              <a:ext uri="{FF2B5EF4-FFF2-40B4-BE49-F238E27FC236}">
                <a16:creationId xmlns:a16="http://schemas.microsoft.com/office/drawing/2014/main" id="{C73F91A7-DA65-9F6F-5501-EFA17D9BE006}"/>
              </a:ext>
            </a:extLst>
          </p:cNvPr>
          <p:cNvSpPr txBox="1"/>
          <p:nvPr/>
        </p:nvSpPr>
        <p:spPr>
          <a:xfrm>
            <a:off x="5419232" y="4782339"/>
            <a:ext cx="2429086" cy="523220"/>
          </a:xfrm>
          <a:prstGeom prst="rect">
            <a:avLst/>
          </a:prstGeom>
          <a:noFill/>
        </p:spPr>
        <p:txBody>
          <a:bodyPr wrap="square" rtlCol="0">
            <a:spAutoFit/>
          </a:bodyPr>
          <a:lstStyle/>
          <a:p>
            <a:r>
              <a:rPr lang="es-CL" sz="1400" dirty="0">
                <a:latin typeface="Abadi Extra Light" panose="020B0204020104020204" pitchFamily="34" charset="0"/>
              </a:rPr>
              <a:t>Ejemplo: Grupos de 3 personas,  sesión de 9 personas.</a:t>
            </a:r>
          </a:p>
        </p:txBody>
      </p:sp>
      <p:sp>
        <p:nvSpPr>
          <p:cNvPr id="24" name="CuadroTexto 23">
            <a:extLst>
              <a:ext uri="{FF2B5EF4-FFF2-40B4-BE49-F238E27FC236}">
                <a16:creationId xmlns:a16="http://schemas.microsoft.com/office/drawing/2014/main" id="{5DF9F2ED-6FE2-77FD-7606-910013AF227B}"/>
              </a:ext>
            </a:extLst>
          </p:cNvPr>
          <p:cNvSpPr txBox="1"/>
          <p:nvPr/>
        </p:nvSpPr>
        <p:spPr>
          <a:xfrm>
            <a:off x="6429932" y="6323516"/>
            <a:ext cx="2429086" cy="307777"/>
          </a:xfrm>
          <a:prstGeom prst="rect">
            <a:avLst/>
          </a:prstGeom>
          <a:noFill/>
        </p:spPr>
        <p:txBody>
          <a:bodyPr wrap="square" rtlCol="0">
            <a:spAutoFit/>
          </a:bodyPr>
          <a:lstStyle/>
          <a:p>
            <a:r>
              <a:rPr lang="es-CL" sz="1400" dirty="0">
                <a:latin typeface="Abadi Extra Light" panose="020B0204020104020204" pitchFamily="34" charset="0"/>
              </a:rPr>
              <a:t>Ejemplo:</a:t>
            </a:r>
          </a:p>
        </p:txBody>
      </p:sp>
      <p:pic>
        <p:nvPicPr>
          <p:cNvPr id="26" name="Imagen 25">
            <a:extLst>
              <a:ext uri="{FF2B5EF4-FFF2-40B4-BE49-F238E27FC236}">
                <a16:creationId xmlns:a16="http://schemas.microsoft.com/office/drawing/2014/main" id="{2F932BBA-3E37-CFFA-7160-35CDC084B9C1}"/>
              </a:ext>
            </a:extLst>
          </p:cNvPr>
          <p:cNvPicPr>
            <a:picLocks noChangeAspect="1"/>
          </p:cNvPicPr>
          <p:nvPr/>
        </p:nvPicPr>
        <p:blipFill>
          <a:blip r:embed="rId5"/>
          <a:stretch>
            <a:fillRect/>
          </a:stretch>
        </p:blipFill>
        <p:spPr>
          <a:xfrm>
            <a:off x="7833874" y="6225758"/>
            <a:ext cx="3896269" cy="638264"/>
          </a:xfrm>
          <a:prstGeom prst="rect">
            <a:avLst/>
          </a:prstGeom>
        </p:spPr>
      </p:pic>
      <p:pic>
        <p:nvPicPr>
          <p:cNvPr id="28" name="Imagen 27">
            <a:extLst>
              <a:ext uri="{FF2B5EF4-FFF2-40B4-BE49-F238E27FC236}">
                <a16:creationId xmlns:a16="http://schemas.microsoft.com/office/drawing/2014/main" id="{CE932D59-3F9F-CF60-3B6E-C7703CEDE58B}"/>
              </a:ext>
            </a:extLst>
          </p:cNvPr>
          <p:cNvPicPr>
            <a:picLocks noChangeAspect="1"/>
          </p:cNvPicPr>
          <p:nvPr/>
        </p:nvPicPr>
        <p:blipFill>
          <a:blip r:embed="rId6"/>
          <a:stretch>
            <a:fillRect/>
          </a:stretch>
        </p:blipFill>
        <p:spPr>
          <a:xfrm>
            <a:off x="5323622" y="2974770"/>
            <a:ext cx="6172520" cy="1119710"/>
          </a:xfrm>
          <a:prstGeom prst="rect">
            <a:avLst/>
          </a:prstGeom>
        </p:spPr>
      </p:pic>
    </p:spTree>
    <p:extLst>
      <p:ext uri="{BB962C8B-B14F-4D97-AF65-F5344CB8AC3E}">
        <p14:creationId xmlns:p14="http://schemas.microsoft.com/office/powerpoint/2010/main" val="1029869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F2CB30-57C7-37CA-9017-74ABF95F86C8}"/>
              </a:ext>
            </a:extLst>
          </p:cNvPr>
          <p:cNvSpPr>
            <a:spLocks noGrp="1"/>
          </p:cNvSpPr>
          <p:nvPr>
            <p:ph type="title"/>
          </p:nvPr>
        </p:nvSpPr>
        <p:spPr>
          <a:xfrm>
            <a:off x="838200" y="136525"/>
            <a:ext cx="10515600" cy="843915"/>
          </a:xfrm>
        </p:spPr>
        <p:txBody>
          <a:bodyPr/>
          <a:lstStyle/>
          <a:p>
            <a:r>
              <a:rPr lang="es-CL" dirty="0"/>
              <a:t>En una página de espera </a:t>
            </a:r>
            <a:r>
              <a:rPr lang="es-CL" i="1" dirty="0" err="1"/>
              <a:t>ShuffleWaitPage</a:t>
            </a:r>
            <a:endParaRPr lang="es-CL" i="1" dirty="0"/>
          </a:p>
        </p:txBody>
      </p:sp>
      <p:sp>
        <p:nvSpPr>
          <p:cNvPr id="4" name="Marcador de pie de página 3">
            <a:extLst>
              <a:ext uri="{FF2B5EF4-FFF2-40B4-BE49-F238E27FC236}">
                <a16:creationId xmlns:a16="http://schemas.microsoft.com/office/drawing/2014/main" id="{9512F3A2-6EB8-CB82-6335-97AA3D23D9A8}"/>
              </a:ext>
            </a:extLst>
          </p:cNvPr>
          <p:cNvSpPr>
            <a:spLocks noGrp="1"/>
          </p:cNvSpPr>
          <p:nvPr>
            <p:ph type="ftr" sz="quarter" idx="11"/>
          </p:nvPr>
        </p:nvSpPr>
        <p:spPr/>
        <p:txBody>
          <a:bodyPr/>
          <a:lstStyle/>
          <a:p>
            <a:r>
              <a:rPr lang="es-CL"/>
              <a:t>Taller OTree – DCCS 2024</a:t>
            </a:r>
            <a:endParaRPr lang="es-CL" dirty="0"/>
          </a:p>
        </p:txBody>
      </p:sp>
      <p:sp>
        <p:nvSpPr>
          <p:cNvPr id="5" name="Marcador de número de diapositiva 4">
            <a:extLst>
              <a:ext uri="{FF2B5EF4-FFF2-40B4-BE49-F238E27FC236}">
                <a16:creationId xmlns:a16="http://schemas.microsoft.com/office/drawing/2014/main" id="{4F1F2139-0A98-43CC-A196-9F414E6FD112}"/>
              </a:ext>
            </a:extLst>
          </p:cNvPr>
          <p:cNvSpPr>
            <a:spLocks noGrp="1"/>
          </p:cNvSpPr>
          <p:nvPr>
            <p:ph type="sldNum" sz="quarter" idx="12"/>
          </p:nvPr>
        </p:nvSpPr>
        <p:spPr/>
        <p:txBody>
          <a:bodyPr/>
          <a:lstStyle/>
          <a:p>
            <a:fld id="{19B08602-078C-4A74-AD07-C822C0FADE2C}" type="slidenum">
              <a:rPr lang="es-CL" smtClean="0"/>
              <a:t>5</a:t>
            </a:fld>
            <a:endParaRPr lang="es-CL"/>
          </a:p>
        </p:txBody>
      </p:sp>
      <p:pic>
        <p:nvPicPr>
          <p:cNvPr id="7" name="Imagen 6">
            <a:extLst>
              <a:ext uri="{FF2B5EF4-FFF2-40B4-BE49-F238E27FC236}">
                <a16:creationId xmlns:a16="http://schemas.microsoft.com/office/drawing/2014/main" id="{C7B2B417-5F1D-78F8-C4F3-D1AB238B2422}"/>
              </a:ext>
            </a:extLst>
          </p:cNvPr>
          <p:cNvPicPr>
            <a:picLocks noChangeAspect="1"/>
          </p:cNvPicPr>
          <p:nvPr/>
        </p:nvPicPr>
        <p:blipFill>
          <a:blip r:embed="rId2"/>
          <a:stretch>
            <a:fillRect/>
          </a:stretch>
        </p:blipFill>
        <p:spPr>
          <a:xfrm>
            <a:off x="838200" y="1227300"/>
            <a:ext cx="8284228" cy="3000050"/>
          </a:xfrm>
          <a:prstGeom prst="rect">
            <a:avLst/>
          </a:prstGeom>
        </p:spPr>
      </p:pic>
      <p:sp>
        <p:nvSpPr>
          <p:cNvPr id="8" name="Rectángulo 7">
            <a:extLst>
              <a:ext uri="{FF2B5EF4-FFF2-40B4-BE49-F238E27FC236}">
                <a16:creationId xmlns:a16="http://schemas.microsoft.com/office/drawing/2014/main" id="{A245D4E1-B16C-CFBA-4195-EE38E0E727C2}"/>
              </a:ext>
            </a:extLst>
          </p:cNvPr>
          <p:cNvSpPr/>
          <p:nvPr/>
        </p:nvSpPr>
        <p:spPr>
          <a:xfrm>
            <a:off x="1300480" y="1991360"/>
            <a:ext cx="4033520" cy="577851"/>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CuadroTexto 8">
            <a:extLst>
              <a:ext uri="{FF2B5EF4-FFF2-40B4-BE49-F238E27FC236}">
                <a16:creationId xmlns:a16="http://schemas.microsoft.com/office/drawing/2014/main" id="{F1BE6E03-003A-588F-F1D2-7DAE8897A5A7}"/>
              </a:ext>
            </a:extLst>
          </p:cNvPr>
          <p:cNvSpPr txBox="1"/>
          <p:nvPr/>
        </p:nvSpPr>
        <p:spPr>
          <a:xfrm>
            <a:off x="9316720" y="1788160"/>
            <a:ext cx="2743200" cy="1200329"/>
          </a:xfrm>
          <a:prstGeom prst="rect">
            <a:avLst/>
          </a:prstGeom>
          <a:noFill/>
          <a:ln w="38100">
            <a:solidFill>
              <a:schemeClr val="accent5"/>
            </a:solidFill>
          </a:ln>
        </p:spPr>
        <p:txBody>
          <a:bodyPr wrap="square" rtlCol="0">
            <a:spAutoFit/>
          </a:bodyPr>
          <a:lstStyle/>
          <a:p>
            <a:r>
              <a:rPr lang="es-CL" dirty="0"/>
              <a:t>Se espera a que todos los </a:t>
            </a:r>
            <a:r>
              <a:rPr lang="es-CL" b="1" dirty="0" err="1"/>
              <a:t>players</a:t>
            </a:r>
            <a:r>
              <a:rPr lang="es-CL" b="1" dirty="0"/>
              <a:t> de la sesión </a:t>
            </a:r>
            <a:r>
              <a:rPr lang="es-CL" dirty="0"/>
              <a:t>lleguen a esta página. </a:t>
            </a:r>
          </a:p>
          <a:p>
            <a:r>
              <a:rPr lang="es-CL" dirty="0"/>
              <a:t>(No del grupo)</a:t>
            </a:r>
          </a:p>
        </p:txBody>
      </p:sp>
      <p:cxnSp>
        <p:nvCxnSpPr>
          <p:cNvPr id="11" name="Conector recto 10">
            <a:extLst>
              <a:ext uri="{FF2B5EF4-FFF2-40B4-BE49-F238E27FC236}">
                <a16:creationId xmlns:a16="http://schemas.microsoft.com/office/drawing/2014/main" id="{1BA874F2-A5F0-4D4F-6AD9-CA6C0B303F77}"/>
              </a:ext>
            </a:extLst>
          </p:cNvPr>
          <p:cNvCxnSpPr/>
          <p:nvPr/>
        </p:nvCxnSpPr>
        <p:spPr>
          <a:xfrm>
            <a:off x="5334000" y="1991360"/>
            <a:ext cx="3962400" cy="0"/>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sp>
        <p:nvSpPr>
          <p:cNvPr id="12" name="Rectángulo 11">
            <a:extLst>
              <a:ext uri="{FF2B5EF4-FFF2-40B4-BE49-F238E27FC236}">
                <a16:creationId xmlns:a16="http://schemas.microsoft.com/office/drawing/2014/main" id="{0C80F4CF-7FB6-6225-3A5C-7A657D866A29}"/>
              </a:ext>
            </a:extLst>
          </p:cNvPr>
          <p:cNvSpPr/>
          <p:nvPr/>
        </p:nvSpPr>
        <p:spPr>
          <a:xfrm>
            <a:off x="5334000" y="3129280"/>
            <a:ext cx="3048000" cy="450837"/>
          </a:xfrm>
          <a:prstGeom prst="rect">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CuadroTexto 12">
            <a:extLst>
              <a:ext uri="{FF2B5EF4-FFF2-40B4-BE49-F238E27FC236}">
                <a16:creationId xmlns:a16="http://schemas.microsoft.com/office/drawing/2014/main" id="{F97B30A4-E89C-F245-2EAE-33B0C5B83777}"/>
              </a:ext>
            </a:extLst>
          </p:cNvPr>
          <p:cNvSpPr txBox="1"/>
          <p:nvPr/>
        </p:nvSpPr>
        <p:spPr>
          <a:xfrm>
            <a:off x="9295148" y="3407847"/>
            <a:ext cx="2641600" cy="923330"/>
          </a:xfrm>
          <a:prstGeom prst="rect">
            <a:avLst/>
          </a:prstGeom>
          <a:noFill/>
          <a:ln w="38100">
            <a:solidFill>
              <a:schemeClr val="accent4"/>
            </a:solidFill>
          </a:ln>
        </p:spPr>
        <p:txBody>
          <a:bodyPr wrap="square" rtlCol="0">
            <a:spAutoFit/>
          </a:bodyPr>
          <a:lstStyle/>
          <a:p>
            <a:r>
              <a:rPr lang="es-CL" dirty="0"/>
              <a:t>El input de la función es la </a:t>
            </a:r>
            <a:r>
              <a:rPr lang="es-CL" dirty="0" err="1"/>
              <a:t>subsesión</a:t>
            </a:r>
            <a:r>
              <a:rPr lang="es-CL" dirty="0"/>
              <a:t> completa (no el grupo).</a:t>
            </a:r>
          </a:p>
        </p:txBody>
      </p:sp>
      <p:cxnSp>
        <p:nvCxnSpPr>
          <p:cNvPr id="15" name="Conector recto 14">
            <a:extLst>
              <a:ext uri="{FF2B5EF4-FFF2-40B4-BE49-F238E27FC236}">
                <a16:creationId xmlns:a16="http://schemas.microsoft.com/office/drawing/2014/main" id="{5B0577A8-524B-A964-AB5D-4117011C0708}"/>
              </a:ext>
            </a:extLst>
          </p:cNvPr>
          <p:cNvCxnSpPr/>
          <p:nvPr/>
        </p:nvCxnSpPr>
        <p:spPr>
          <a:xfrm>
            <a:off x="8382000" y="3432797"/>
            <a:ext cx="934720" cy="0"/>
          </a:xfrm>
          <a:prstGeom prst="line">
            <a:avLst/>
          </a:prstGeom>
          <a:ln w="38100">
            <a:solidFill>
              <a:schemeClr val="accent4"/>
            </a:solidFill>
          </a:ln>
        </p:spPr>
        <p:style>
          <a:lnRef idx="2">
            <a:schemeClr val="accent1"/>
          </a:lnRef>
          <a:fillRef idx="0">
            <a:schemeClr val="accent1"/>
          </a:fillRef>
          <a:effectRef idx="1">
            <a:schemeClr val="accent1"/>
          </a:effectRef>
          <a:fontRef idx="minor">
            <a:schemeClr val="tx1"/>
          </a:fontRef>
        </p:style>
      </p:cxnSp>
      <p:sp>
        <p:nvSpPr>
          <p:cNvPr id="16" name="Rectángulo 15">
            <a:extLst>
              <a:ext uri="{FF2B5EF4-FFF2-40B4-BE49-F238E27FC236}">
                <a16:creationId xmlns:a16="http://schemas.microsoft.com/office/drawing/2014/main" id="{C7EB87F6-1188-8DF0-C4BD-2F8328E0BBEF}"/>
              </a:ext>
            </a:extLst>
          </p:cNvPr>
          <p:cNvSpPr/>
          <p:nvPr/>
        </p:nvSpPr>
        <p:spPr>
          <a:xfrm>
            <a:off x="1788160" y="3580117"/>
            <a:ext cx="3820160" cy="450837"/>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7" name="CuadroTexto 16">
            <a:extLst>
              <a:ext uri="{FF2B5EF4-FFF2-40B4-BE49-F238E27FC236}">
                <a16:creationId xmlns:a16="http://schemas.microsoft.com/office/drawing/2014/main" id="{E5B074A3-B74A-2481-3EC0-7BE10AB40466}"/>
              </a:ext>
            </a:extLst>
          </p:cNvPr>
          <p:cNvSpPr txBox="1"/>
          <p:nvPr/>
        </p:nvSpPr>
        <p:spPr>
          <a:xfrm>
            <a:off x="1788160" y="4409440"/>
            <a:ext cx="6746240" cy="1754326"/>
          </a:xfrm>
          <a:prstGeom prst="rect">
            <a:avLst/>
          </a:prstGeom>
          <a:noFill/>
          <a:ln w="38100">
            <a:solidFill>
              <a:schemeClr val="accent6"/>
            </a:solidFill>
          </a:ln>
        </p:spPr>
        <p:txBody>
          <a:bodyPr wrap="square" rtlCol="0">
            <a:spAutoFit/>
          </a:bodyPr>
          <a:lstStyle/>
          <a:p>
            <a:r>
              <a:rPr lang="es-CL" dirty="0"/>
              <a:t>En esta parte se pueden usar las mismas funciones que en </a:t>
            </a:r>
            <a:r>
              <a:rPr lang="es-CL" i="1" dirty="0" err="1"/>
              <a:t>creating_sesión</a:t>
            </a:r>
            <a:r>
              <a:rPr lang="es-CL" i="1" dirty="0"/>
              <a:t> </a:t>
            </a:r>
            <a:r>
              <a:rPr lang="es-CL" dirty="0"/>
              <a:t>además de acceder a variables de los jugadores y de los grupos que se hubieran creado en páginas anteriores.</a:t>
            </a:r>
          </a:p>
          <a:p>
            <a:r>
              <a:rPr lang="es-CL" i="1" dirty="0" err="1"/>
              <a:t>subsession.group_like_round</a:t>
            </a:r>
            <a:r>
              <a:rPr lang="es-CL" i="1" dirty="0"/>
              <a:t>(n)</a:t>
            </a:r>
          </a:p>
          <a:p>
            <a:r>
              <a:rPr lang="es-CL" i="1" dirty="0" err="1"/>
              <a:t>subsession</a:t>
            </a:r>
            <a:r>
              <a:rPr lang="es-CL" i="1" dirty="0"/>
              <a:t>. </a:t>
            </a:r>
            <a:r>
              <a:rPr lang="es-CL" i="1" dirty="0" err="1"/>
              <a:t>set_group_matrix</a:t>
            </a:r>
            <a:r>
              <a:rPr lang="es-CL" i="1" dirty="0"/>
              <a:t>(</a:t>
            </a:r>
            <a:r>
              <a:rPr lang="es-CL" i="1" dirty="0" err="1"/>
              <a:t>mi_matriz</a:t>
            </a:r>
            <a:r>
              <a:rPr lang="es-CL" i="1" dirty="0"/>
              <a:t>)</a:t>
            </a:r>
          </a:p>
          <a:p>
            <a:r>
              <a:rPr lang="es-CL" i="1" dirty="0" err="1"/>
              <a:t>subsession</a:t>
            </a:r>
            <a:r>
              <a:rPr lang="es-CL" i="1" dirty="0"/>
              <a:t>. </a:t>
            </a:r>
            <a:r>
              <a:rPr lang="es-CL" i="1" dirty="0" err="1"/>
              <a:t>get_group_matrix</a:t>
            </a:r>
            <a:r>
              <a:rPr lang="es-CL" i="1" dirty="0"/>
              <a:t>()</a:t>
            </a:r>
          </a:p>
        </p:txBody>
      </p:sp>
      <p:cxnSp>
        <p:nvCxnSpPr>
          <p:cNvPr id="19" name="Conector recto 18">
            <a:extLst>
              <a:ext uri="{FF2B5EF4-FFF2-40B4-BE49-F238E27FC236}">
                <a16:creationId xmlns:a16="http://schemas.microsoft.com/office/drawing/2014/main" id="{E5F6BC53-F278-3F34-ABAC-4E63F3AA5907}"/>
              </a:ext>
            </a:extLst>
          </p:cNvPr>
          <p:cNvCxnSpPr/>
          <p:nvPr/>
        </p:nvCxnSpPr>
        <p:spPr>
          <a:xfrm>
            <a:off x="1960880" y="4030954"/>
            <a:ext cx="0" cy="378486"/>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7214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EE1230-4BD2-57C1-285E-C32582DBE1D4}"/>
              </a:ext>
            </a:extLst>
          </p:cNvPr>
          <p:cNvSpPr>
            <a:spLocks noGrp="1"/>
          </p:cNvSpPr>
          <p:nvPr>
            <p:ph type="title"/>
          </p:nvPr>
        </p:nvSpPr>
        <p:spPr>
          <a:xfrm>
            <a:off x="838200" y="365125"/>
            <a:ext cx="10515600" cy="843915"/>
          </a:xfrm>
        </p:spPr>
        <p:txBody>
          <a:bodyPr>
            <a:normAutofit fontScale="90000"/>
          </a:bodyPr>
          <a:lstStyle/>
          <a:p>
            <a:r>
              <a:rPr lang="es-CL" dirty="0"/>
              <a:t>Por orden de llegada en una </a:t>
            </a:r>
            <a:r>
              <a:rPr lang="es-CL" i="1" dirty="0" err="1"/>
              <a:t>WaitPage</a:t>
            </a:r>
            <a:r>
              <a:rPr lang="es-CL" i="1" dirty="0"/>
              <a:t>:</a:t>
            </a:r>
            <a:br>
              <a:rPr lang="es-CL" i="1" dirty="0"/>
            </a:br>
            <a:r>
              <a:rPr lang="es-CL" sz="3100" dirty="0"/>
              <a:t>Esta página debe ser la primera de la secuencia de páginas</a:t>
            </a:r>
            <a:r>
              <a:rPr lang="es-CL" i="1" dirty="0"/>
              <a:t>.</a:t>
            </a:r>
          </a:p>
        </p:txBody>
      </p:sp>
      <p:sp>
        <p:nvSpPr>
          <p:cNvPr id="3" name="Marcador de contenido 2">
            <a:extLst>
              <a:ext uri="{FF2B5EF4-FFF2-40B4-BE49-F238E27FC236}">
                <a16:creationId xmlns:a16="http://schemas.microsoft.com/office/drawing/2014/main" id="{D3248D25-5C7D-06B7-BD60-8FEFDD0B72F7}"/>
              </a:ext>
            </a:extLst>
          </p:cNvPr>
          <p:cNvSpPr>
            <a:spLocks noGrp="1"/>
          </p:cNvSpPr>
          <p:nvPr>
            <p:ph idx="1"/>
          </p:nvPr>
        </p:nvSpPr>
        <p:spPr>
          <a:xfrm>
            <a:off x="838200" y="1615044"/>
            <a:ext cx="4114800" cy="4561919"/>
          </a:xfrm>
        </p:spPr>
        <p:txBody>
          <a:bodyPr>
            <a:normAutofit fontScale="92500" lnSpcReduction="20000"/>
          </a:bodyPr>
          <a:lstStyle/>
          <a:p>
            <a:r>
              <a:rPr lang="es-CL" dirty="0"/>
              <a:t>Re agrupamiento en cada ronda:</a:t>
            </a:r>
          </a:p>
          <a:p>
            <a:endParaRPr lang="es-CL" dirty="0"/>
          </a:p>
          <a:p>
            <a:endParaRPr lang="es-CL" dirty="0"/>
          </a:p>
          <a:p>
            <a:r>
              <a:rPr lang="es-CL" dirty="0"/>
              <a:t>Agrupar una sola vez:</a:t>
            </a:r>
          </a:p>
          <a:p>
            <a:endParaRPr lang="es-CL" dirty="0"/>
          </a:p>
          <a:p>
            <a:endParaRPr lang="es-CL" dirty="0"/>
          </a:p>
          <a:p>
            <a:endParaRPr lang="es-CL" dirty="0"/>
          </a:p>
          <a:p>
            <a:endParaRPr lang="es-CL" dirty="0"/>
          </a:p>
          <a:p>
            <a:r>
              <a:rPr lang="es-CL" dirty="0"/>
              <a:t>Agrupar manteniendo alguna condición: </a:t>
            </a:r>
          </a:p>
        </p:txBody>
      </p:sp>
      <p:sp>
        <p:nvSpPr>
          <p:cNvPr id="5" name="Marcador de número de diapositiva 4">
            <a:extLst>
              <a:ext uri="{FF2B5EF4-FFF2-40B4-BE49-F238E27FC236}">
                <a16:creationId xmlns:a16="http://schemas.microsoft.com/office/drawing/2014/main" id="{A0987124-DBF1-97D1-2B61-C00A75FFA72B}"/>
              </a:ext>
            </a:extLst>
          </p:cNvPr>
          <p:cNvSpPr>
            <a:spLocks noGrp="1"/>
          </p:cNvSpPr>
          <p:nvPr>
            <p:ph type="sldNum" sz="quarter" idx="12"/>
          </p:nvPr>
        </p:nvSpPr>
        <p:spPr/>
        <p:txBody>
          <a:bodyPr/>
          <a:lstStyle/>
          <a:p>
            <a:fld id="{19B08602-078C-4A74-AD07-C822C0FADE2C}" type="slidenum">
              <a:rPr lang="es-CL" smtClean="0"/>
              <a:t>6</a:t>
            </a:fld>
            <a:endParaRPr lang="es-CL"/>
          </a:p>
        </p:txBody>
      </p:sp>
      <p:pic>
        <p:nvPicPr>
          <p:cNvPr id="7" name="Imagen 6">
            <a:extLst>
              <a:ext uri="{FF2B5EF4-FFF2-40B4-BE49-F238E27FC236}">
                <a16:creationId xmlns:a16="http://schemas.microsoft.com/office/drawing/2014/main" id="{0EF77AB7-B19C-1D47-D2BD-DD879F2DE0DD}"/>
              </a:ext>
            </a:extLst>
          </p:cNvPr>
          <p:cNvPicPr>
            <a:picLocks noChangeAspect="1"/>
          </p:cNvPicPr>
          <p:nvPr/>
        </p:nvPicPr>
        <p:blipFill>
          <a:blip r:embed="rId2"/>
          <a:stretch>
            <a:fillRect/>
          </a:stretch>
        </p:blipFill>
        <p:spPr>
          <a:xfrm>
            <a:off x="5270647" y="1615044"/>
            <a:ext cx="4407743" cy="852163"/>
          </a:xfrm>
          <a:prstGeom prst="rect">
            <a:avLst/>
          </a:prstGeom>
        </p:spPr>
      </p:pic>
      <p:pic>
        <p:nvPicPr>
          <p:cNvPr id="9" name="Imagen 8">
            <a:extLst>
              <a:ext uri="{FF2B5EF4-FFF2-40B4-BE49-F238E27FC236}">
                <a16:creationId xmlns:a16="http://schemas.microsoft.com/office/drawing/2014/main" id="{2D3F8BA1-3835-EC19-40B0-763B83488539}"/>
              </a:ext>
            </a:extLst>
          </p:cNvPr>
          <p:cNvPicPr>
            <a:picLocks noChangeAspect="1"/>
          </p:cNvPicPr>
          <p:nvPr/>
        </p:nvPicPr>
        <p:blipFill>
          <a:blip r:embed="rId3"/>
          <a:stretch>
            <a:fillRect/>
          </a:stretch>
        </p:blipFill>
        <p:spPr>
          <a:xfrm>
            <a:off x="5270647" y="2948519"/>
            <a:ext cx="4312740" cy="1810596"/>
          </a:xfrm>
          <a:prstGeom prst="rect">
            <a:avLst/>
          </a:prstGeom>
        </p:spPr>
      </p:pic>
      <p:pic>
        <p:nvPicPr>
          <p:cNvPr id="11" name="Imagen 10">
            <a:extLst>
              <a:ext uri="{FF2B5EF4-FFF2-40B4-BE49-F238E27FC236}">
                <a16:creationId xmlns:a16="http://schemas.microsoft.com/office/drawing/2014/main" id="{E604239B-D6CB-5395-4235-D9F76A1214F4}"/>
              </a:ext>
            </a:extLst>
          </p:cNvPr>
          <p:cNvPicPr>
            <a:picLocks noChangeAspect="1"/>
          </p:cNvPicPr>
          <p:nvPr/>
        </p:nvPicPr>
        <p:blipFill>
          <a:blip r:embed="rId4"/>
          <a:stretch>
            <a:fillRect/>
          </a:stretch>
        </p:blipFill>
        <p:spPr>
          <a:xfrm>
            <a:off x="5270647" y="4987715"/>
            <a:ext cx="6101080" cy="1733760"/>
          </a:xfrm>
          <a:prstGeom prst="rect">
            <a:avLst/>
          </a:prstGeom>
        </p:spPr>
      </p:pic>
    </p:spTree>
    <p:extLst>
      <p:ext uri="{BB962C8B-B14F-4D97-AF65-F5344CB8AC3E}">
        <p14:creationId xmlns:p14="http://schemas.microsoft.com/office/powerpoint/2010/main" val="1668841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D15482-4CCF-3E7F-13CC-E04A3E982B2C}"/>
              </a:ext>
            </a:extLst>
          </p:cNvPr>
          <p:cNvSpPr>
            <a:spLocks noGrp="1"/>
          </p:cNvSpPr>
          <p:nvPr>
            <p:ph type="title"/>
          </p:nvPr>
        </p:nvSpPr>
        <p:spPr>
          <a:xfrm>
            <a:off x="838200" y="365125"/>
            <a:ext cx="10515600" cy="854075"/>
          </a:xfrm>
        </p:spPr>
        <p:txBody>
          <a:bodyPr/>
          <a:lstStyle/>
          <a:p>
            <a:r>
              <a:rPr lang="es-CL" dirty="0"/>
              <a:t>Asignación de tratamientos</a:t>
            </a:r>
          </a:p>
        </p:txBody>
      </p:sp>
      <p:sp>
        <p:nvSpPr>
          <p:cNvPr id="3" name="Marcador de contenido 2">
            <a:extLst>
              <a:ext uri="{FF2B5EF4-FFF2-40B4-BE49-F238E27FC236}">
                <a16:creationId xmlns:a16="http://schemas.microsoft.com/office/drawing/2014/main" id="{C28132BC-0C21-0275-6000-787D4C72A3FD}"/>
              </a:ext>
            </a:extLst>
          </p:cNvPr>
          <p:cNvSpPr>
            <a:spLocks noGrp="1"/>
          </p:cNvSpPr>
          <p:nvPr>
            <p:ph idx="1"/>
          </p:nvPr>
        </p:nvSpPr>
        <p:spPr>
          <a:xfrm>
            <a:off x="635000" y="1419225"/>
            <a:ext cx="10515600" cy="521335"/>
          </a:xfrm>
        </p:spPr>
        <p:txBody>
          <a:bodyPr/>
          <a:lstStyle/>
          <a:p>
            <a:r>
              <a:rPr lang="es-CL" dirty="0"/>
              <a:t>Dentro de </a:t>
            </a:r>
            <a:r>
              <a:rPr lang="es-CL" i="1" dirty="0" err="1"/>
              <a:t>creating_sesión</a:t>
            </a:r>
            <a:r>
              <a:rPr lang="es-CL" i="1" dirty="0"/>
              <a:t>()</a:t>
            </a:r>
          </a:p>
        </p:txBody>
      </p:sp>
      <p:sp>
        <p:nvSpPr>
          <p:cNvPr id="4" name="Marcador de pie de página 3">
            <a:extLst>
              <a:ext uri="{FF2B5EF4-FFF2-40B4-BE49-F238E27FC236}">
                <a16:creationId xmlns:a16="http://schemas.microsoft.com/office/drawing/2014/main" id="{B8BF8CC3-BD25-6FFD-CCC3-84D71D54FAFD}"/>
              </a:ext>
            </a:extLst>
          </p:cNvPr>
          <p:cNvSpPr>
            <a:spLocks noGrp="1"/>
          </p:cNvSpPr>
          <p:nvPr>
            <p:ph type="ftr" sz="quarter" idx="11"/>
          </p:nvPr>
        </p:nvSpPr>
        <p:spPr/>
        <p:txBody>
          <a:bodyPr/>
          <a:lstStyle/>
          <a:p>
            <a:r>
              <a:rPr lang="es-CL"/>
              <a:t>Taller OTree – DCCS 2024</a:t>
            </a:r>
            <a:endParaRPr lang="es-CL" dirty="0"/>
          </a:p>
        </p:txBody>
      </p:sp>
      <p:sp>
        <p:nvSpPr>
          <p:cNvPr id="5" name="Marcador de número de diapositiva 4">
            <a:extLst>
              <a:ext uri="{FF2B5EF4-FFF2-40B4-BE49-F238E27FC236}">
                <a16:creationId xmlns:a16="http://schemas.microsoft.com/office/drawing/2014/main" id="{C9F0613E-4348-DAA4-1409-4ADC5ECC74B1}"/>
              </a:ext>
            </a:extLst>
          </p:cNvPr>
          <p:cNvSpPr>
            <a:spLocks noGrp="1"/>
          </p:cNvSpPr>
          <p:nvPr>
            <p:ph type="sldNum" sz="quarter" idx="12"/>
          </p:nvPr>
        </p:nvSpPr>
        <p:spPr/>
        <p:txBody>
          <a:bodyPr/>
          <a:lstStyle/>
          <a:p>
            <a:fld id="{19B08602-078C-4A74-AD07-C822C0FADE2C}" type="slidenum">
              <a:rPr lang="es-CL" smtClean="0"/>
              <a:t>7</a:t>
            </a:fld>
            <a:endParaRPr lang="es-CL"/>
          </a:p>
        </p:txBody>
      </p:sp>
      <p:sp>
        <p:nvSpPr>
          <p:cNvPr id="6" name="Rectángulo 5">
            <a:extLst>
              <a:ext uri="{FF2B5EF4-FFF2-40B4-BE49-F238E27FC236}">
                <a16:creationId xmlns:a16="http://schemas.microsoft.com/office/drawing/2014/main" id="{7EA1BEAF-EC1E-A3CB-7704-2F83B9FFCEDF}"/>
              </a:ext>
            </a:extLst>
          </p:cNvPr>
          <p:cNvSpPr/>
          <p:nvPr/>
        </p:nvSpPr>
        <p:spPr>
          <a:xfrm>
            <a:off x="838200" y="2042160"/>
            <a:ext cx="5257800" cy="3891280"/>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7" name="Rectángulo 6">
            <a:extLst>
              <a:ext uri="{FF2B5EF4-FFF2-40B4-BE49-F238E27FC236}">
                <a16:creationId xmlns:a16="http://schemas.microsoft.com/office/drawing/2014/main" id="{D9931374-FA54-E7FE-D2E6-542EDD63AB9D}"/>
              </a:ext>
            </a:extLst>
          </p:cNvPr>
          <p:cNvSpPr/>
          <p:nvPr/>
        </p:nvSpPr>
        <p:spPr>
          <a:xfrm>
            <a:off x="6283960" y="2042160"/>
            <a:ext cx="5257800" cy="389128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8" name="CuadroTexto 7">
            <a:extLst>
              <a:ext uri="{FF2B5EF4-FFF2-40B4-BE49-F238E27FC236}">
                <a16:creationId xmlns:a16="http://schemas.microsoft.com/office/drawing/2014/main" id="{5AABB704-0859-2AD6-F608-458406A31660}"/>
              </a:ext>
            </a:extLst>
          </p:cNvPr>
          <p:cNvSpPr txBox="1"/>
          <p:nvPr/>
        </p:nvSpPr>
        <p:spPr>
          <a:xfrm>
            <a:off x="838200" y="2140585"/>
            <a:ext cx="2839720" cy="400110"/>
          </a:xfrm>
          <a:prstGeom prst="rect">
            <a:avLst/>
          </a:prstGeom>
          <a:noFill/>
        </p:spPr>
        <p:txBody>
          <a:bodyPr wrap="square" rtlCol="0">
            <a:spAutoFit/>
          </a:bodyPr>
          <a:lstStyle/>
          <a:p>
            <a:r>
              <a:rPr lang="es-CL" sz="2000" dirty="0"/>
              <a:t>Asignar a cada Player</a:t>
            </a:r>
          </a:p>
        </p:txBody>
      </p:sp>
      <p:sp>
        <p:nvSpPr>
          <p:cNvPr id="9" name="CuadroTexto 8">
            <a:extLst>
              <a:ext uri="{FF2B5EF4-FFF2-40B4-BE49-F238E27FC236}">
                <a16:creationId xmlns:a16="http://schemas.microsoft.com/office/drawing/2014/main" id="{D2844F1E-E571-3B4C-8174-0F804C9655C5}"/>
              </a:ext>
            </a:extLst>
          </p:cNvPr>
          <p:cNvSpPr txBox="1"/>
          <p:nvPr/>
        </p:nvSpPr>
        <p:spPr>
          <a:xfrm>
            <a:off x="6283960" y="2129043"/>
            <a:ext cx="2839720" cy="400110"/>
          </a:xfrm>
          <a:prstGeom prst="rect">
            <a:avLst/>
          </a:prstGeom>
          <a:noFill/>
        </p:spPr>
        <p:txBody>
          <a:bodyPr wrap="square" rtlCol="0">
            <a:spAutoFit/>
          </a:bodyPr>
          <a:lstStyle/>
          <a:p>
            <a:r>
              <a:rPr lang="es-CL" sz="2000" dirty="0"/>
              <a:t>Asignar a cada Group</a:t>
            </a:r>
          </a:p>
        </p:txBody>
      </p:sp>
      <p:pic>
        <p:nvPicPr>
          <p:cNvPr id="11" name="Imagen 10">
            <a:extLst>
              <a:ext uri="{FF2B5EF4-FFF2-40B4-BE49-F238E27FC236}">
                <a16:creationId xmlns:a16="http://schemas.microsoft.com/office/drawing/2014/main" id="{2BC5F0F1-EC60-20E7-50C9-96F01466475A}"/>
              </a:ext>
            </a:extLst>
          </p:cNvPr>
          <p:cNvPicPr>
            <a:picLocks noChangeAspect="1"/>
          </p:cNvPicPr>
          <p:nvPr/>
        </p:nvPicPr>
        <p:blipFill>
          <a:blip r:embed="rId2"/>
          <a:stretch>
            <a:fillRect/>
          </a:stretch>
        </p:blipFill>
        <p:spPr>
          <a:xfrm>
            <a:off x="945828" y="3782919"/>
            <a:ext cx="4945424" cy="1021782"/>
          </a:xfrm>
          <a:prstGeom prst="rect">
            <a:avLst/>
          </a:prstGeom>
        </p:spPr>
      </p:pic>
      <p:pic>
        <p:nvPicPr>
          <p:cNvPr id="13" name="Imagen 12">
            <a:extLst>
              <a:ext uri="{FF2B5EF4-FFF2-40B4-BE49-F238E27FC236}">
                <a16:creationId xmlns:a16="http://schemas.microsoft.com/office/drawing/2014/main" id="{59E6158D-A8FA-5881-61D8-5D7262913173}"/>
              </a:ext>
            </a:extLst>
          </p:cNvPr>
          <p:cNvPicPr>
            <a:picLocks noChangeAspect="1"/>
          </p:cNvPicPr>
          <p:nvPr/>
        </p:nvPicPr>
        <p:blipFill>
          <a:blip r:embed="rId3"/>
          <a:stretch>
            <a:fillRect/>
          </a:stretch>
        </p:blipFill>
        <p:spPr>
          <a:xfrm>
            <a:off x="945828" y="2906520"/>
            <a:ext cx="3210373" cy="552527"/>
          </a:xfrm>
          <a:prstGeom prst="rect">
            <a:avLst/>
          </a:prstGeom>
        </p:spPr>
      </p:pic>
      <p:pic>
        <p:nvPicPr>
          <p:cNvPr id="17" name="Imagen 16">
            <a:extLst>
              <a:ext uri="{FF2B5EF4-FFF2-40B4-BE49-F238E27FC236}">
                <a16:creationId xmlns:a16="http://schemas.microsoft.com/office/drawing/2014/main" id="{5E31F3BC-1AA0-15C4-6E1B-28343EC4E9D1}"/>
              </a:ext>
            </a:extLst>
          </p:cNvPr>
          <p:cNvPicPr>
            <a:picLocks noChangeAspect="1"/>
          </p:cNvPicPr>
          <p:nvPr/>
        </p:nvPicPr>
        <p:blipFill>
          <a:blip r:embed="rId4"/>
          <a:stretch>
            <a:fillRect/>
          </a:stretch>
        </p:blipFill>
        <p:spPr>
          <a:xfrm>
            <a:off x="6374849" y="2838368"/>
            <a:ext cx="3343742" cy="590632"/>
          </a:xfrm>
          <a:prstGeom prst="rect">
            <a:avLst/>
          </a:prstGeom>
        </p:spPr>
      </p:pic>
      <p:pic>
        <p:nvPicPr>
          <p:cNvPr id="19" name="Imagen 18">
            <a:extLst>
              <a:ext uri="{FF2B5EF4-FFF2-40B4-BE49-F238E27FC236}">
                <a16:creationId xmlns:a16="http://schemas.microsoft.com/office/drawing/2014/main" id="{1A8DEFA1-BD8F-709B-4CC3-4A302F670680}"/>
              </a:ext>
            </a:extLst>
          </p:cNvPr>
          <p:cNvPicPr>
            <a:picLocks noChangeAspect="1"/>
          </p:cNvPicPr>
          <p:nvPr/>
        </p:nvPicPr>
        <p:blipFill>
          <a:blip r:embed="rId5"/>
          <a:stretch>
            <a:fillRect/>
          </a:stretch>
        </p:blipFill>
        <p:spPr>
          <a:xfrm>
            <a:off x="6356079" y="3756804"/>
            <a:ext cx="4805797" cy="1119995"/>
          </a:xfrm>
          <a:prstGeom prst="rect">
            <a:avLst/>
          </a:prstGeom>
        </p:spPr>
      </p:pic>
    </p:spTree>
    <p:extLst>
      <p:ext uri="{BB962C8B-B14F-4D97-AF65-F5344CB8AC3E}">
        <p14:creationId xmlns:p14="http://schemas.microsoft.com/office/powerpoint/2010/main" val="3982163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9821D7-9222-4E28-699D-E299FA047E48}"/>
              </a:ext>
            </a:extLst>
          </p:cNvPr>
          <p:cNvSpPr>
            <a:spLocks noGrp="1"/>
          </p:cNvSpPr>
          <p:nvPr>
            <p:ph type="title"/>
          </p:nvPr>
        </p:nvSpPr>
        <p:spPr>
          <a:xfrm>
            <a:off x="838200" y="365125"/>
            <a:ext cx="10855960" cy="793115"/>
          </a:xfrm>
        </p:spPr>
        <p:txBody>
          <a:bodyPr/>
          <a:lstStyle/>
          <a:p>
            <a:r>
              <a:rPr lang="es-CL" dirty="0"/>
              <a:t>Algunas consideraciones:</a:t>
            </a:r>
          </a:p>
        </p:txBody>
      </p:sp>
      <p:sp>
        <p:nvSpPr>
          <p:cNvPr id="3" name="Marcador de contenido 2">
            <a:extLst>
              <a:ext uri="{FF2B5EF4-FFF2-40B4-BE49-F238E27FC236}">
                <a16:creationId xmlns:a16="http://schemas.microsoft.com/office/drawing/2014/main" id="{6E9D3123-FCF1-7822-44E5-312377623DEF}"/>
              </a:ext>
            </a:extLst>
          </p:cNvPr>
          <p:cNvSpPr>
            <a:spLocks noGrp="1"/>
          </p:cNvSpPr>
          <p:nvPr>
            <p:ph idx="1"/>
          </p:nvPr>
        </p:nvSpPr>
        <p:spPr>
          <a:xfrm>
            <a:off x="226956" y="1354613"/>
            <a:ext cx="6039224" cy="4805363"/>
          </a:xfrm>
        </p:spPr>
        <p:txBody>
          <a:bodyPr>
            <a:normAutofit lnSpcReduction="10000"/>
          </a:bodyPr>
          <a:lstStyle/>
          <a:p>
            <a:r>
              <a:rPr lang="es-CL" dirty="0"/>
              <a:t>En múltiples rondas, la asignación de tratamiento se hará en cada ronda de forma independiente. Si se desea mantener el mismo tratamiento en todas las rondas se debe guardar la variable en </a:t>
            </a:r>
            <a:r>
              <a:rPr lang="es-CL" b="1" i="1" dirty="0" err="1"/>
              <a:t>participant</a:t>
            </a:r>
            <a:r>
              <a:rPr lang="es-CL" dirty="0"/>
              <a:t>.</a:t>
            </a:r>
          </a:p>
          <a:p>
            <a:endParaRPr lang="es-CL" dirty="0"/>
          </a:p>
          <a:p>
            <a:r>
              <a:rPr lang="es-CL" dirty="0"/>
              <a:t>Como la asignación es aleatoria, podrían no quedar la misma cantidad de personas en cada tratamiento. Esto se puede arreglar agregando </a:t>
            </a:r>
            <a:r>
              <a:rPr lang="es-CL" b="1" i="1" dirty="0" err="1"/>
              <a:t>itertools</a:t>
            </a:r>
            <a:r>
              <a:rPr lang="es-CL" dirty="0"/>
              <a:t>.</a:t>
            </a:r>
          </a:p>
        </p:txBody>
      </p:sp>
      <p:sp>
        <p:nvSpPr>
          <p:cNvPr id="4" name="Marcador de pie de página 3">
            <a:extLst>
              <a:ext uri="{FF2B5EF4-FFF2-40B4-BE49-F238E27FC236}">
                <a16:creationId xmlns:a16="http://schemas.microsoft.com/office/drawing/2014/main" id="{72DEC7E0-DE50-A26F-01EF-FB695E65DC3B}"/>
              </a:ext>
            </a:extLst>
          </p:cNvPr>
          <p:cNvSpPr>
            <a:spLocks noGrp="1"/>
          </p:cNvSpPr>
          <p:nvPr>
            <p:ph type="ftr" sz="quarter" idx="11"/>
          </p:nvPr>
        </p:nvSpPr>
        <p:spPr/>
        <p:txBody>
          <a:bodyPr/>
          <a:lstStyle/>
          <a:p>
            <a:r>
              <a:rPr lang="es-CL"/>
              <a:t>Taller OTree – DCCS 2024</a:t>
            </a:r>
            <a:endParaRPr lang="es-CL" dirty="0"/>
          </a:p>
        </p:txBody>
      </p:sp>
      <p:sp>
        <p:nvSpPr>
          <p:cNvPr id="5" name="Marcador de número de diapositiva 4">
            <a:extLst>
              <a:ext uri="{FF2B5EF4-FFF2-40B4-BE49-F238E27FC236}">
                <a16:creationId xmlns:a16="http://schemas.microsoft.com/office/drawing/2014/main" id="{F22C048B-AB77-3E26-98B3-49E81FF4BB1B}"/>
              </a:ext>
            </a:extLst>
          </p:cNvPr>
          <p:cNvSpPr>
            <a:spLocks noGrp="1"/>
          </p:cNvSpPr>
          <p:nvPr>
            <p:ph type="sldNum" sz="quarter" idx="12"/>
          </p:nvPr>
        </p:nvSpPr>
        <p:spPr/>
        <p:txBody>
          <a:bodyPr/>
          <a:lstStyle/>
          <a:p>
            <a:fld id="{19B08602-078C-4A74-AD07-C822C0FADE2C}" type="slidenum">
              <a:rPr lang="es-CL" smtClean="0"/>
              <a:t>8</a:t>
            </a:fld>
            <a:endParaRPr lang="es-CL"/>
          </a:p>
        </p:txBody>
      </p:sp>
      <p:pic>
        <p:nvPicPr>
          <p:cNvPr id="7" name="Imagen 6">
            <a:extLst>
              <a:ext uri="{FF2B5EF4-FFF2-40B4-BE49-F238E27FC236}">
                <a16:creationId xmlns:a16="http://schemas.microsoft.com/office/drawing/2014/main" id="{D0A92ED0-ACF6-3650-1316-93A1958C7F4A}"/>
              </a:ext>
            </a:extLst>
          </p:cNvPr>
          <p:cNvPicPr>
            <a:picLocks noChangeAspect="1"/>
          </p:cNvPicPr>
          <p:nvPr/>
        </p:nvPicPr>
        <p:blipFill>
          <a:blip r:embed="rId2"/>
          <a:stretch>
            <a:fillRect/>
          </a:stretch>
        </p:blipFill>
        <p:spPr>
          <a:xfrm>
            <a:off x="6438230" y="1669678"/>
            <a:ext cx="5680828" cy="1209806"/>
          </a:xfrm>
          <a:prstGeom prst="rect">
            <a:avLst/>
          </a:prstGeom>
        </p:spPr>
      </p:pic>
      <p:pic>
        <p:nvPicPr>
          <p:cNvPr id="8" name="Imagen 7">
            <a:extLst>
              <a:ext uri="{FF2B5EF4-FFF2-40B4-BE49-F238E27FC236}">
                <a16:creationId xmlns:a16="http://schemas.microsoft.com/office/drawing/2014/main" id="{B2D06B70-9C0C-6B9C-9276-212BCC74462A}"/>
              </a:ext>
            </a:extLst>
          </p:cNvPr>
          <p:cNvPicPr>
            <a:picLocks noChangeAspect="1"/>
          </p:cNvPicPr>
          <p:nvPr/>
        </p:nvPicPr>
        <p:blipFill>
          <a:blip r:embed="rId3"/>
          <a:stretch>
            <a:fillRect/>
          </a:stretch>
        </p:blipFill>
        <p:spPr>
          <a:xfrm>
            <a:off x="6438230" y="4390501"/>
            <a:ext cx="5122850" cy="1595642"/>
          </a:xfrm>
          <a:prstGeom prst="rect">
            <a:avLst/>
          </a:prstGeom>
        </p:spPr>
      </p:pic>
    </p:spTree>
    <p:extLst>
      <p:ext uri="{BB962C8B-B14F-4D97-AF65-F5344CB8AC3E}">
        <p14:creationId xmlns:p14="http://schemas.microsoft.com/office/powerpoint/2010/main" val="314249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A82B3D1E-3BB8-BD34-62A1-67FDBF0C9E4C}"/>
              </a:ext>
            </a:extLst>
          </p:cNvPr>
          <p:cNvSpPr/>
          <p:nvPr/>
        </p:nvSpPr>
        <p:spPr>
          <a:xfrm>
            <a:off x="762000" y="2773680"/>
            <a:ext cx="10728960" cy="331216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AA47B375-088A-A856-1BF1-D82CBB91110F}"/>
              </a:ext>
            </a:extLst>
          </p:cNvPr>
          <p:cNvSpPr>
            <a:spLocks noGrp="1"/>
          </p:cNvSpPr>
          <p:nvPr>
            <p:ph type="title"/>
          </p:nvPr>
        </p:nvSpPr>
        <p:spPr>
          <a:xfrm>
            <a:off x="838200" y="365125"/>
            <a:ext cx="10515600" cy="975995"/>
          </a:xfrm>
        </p:spPr>
        <p:txBody>
          <a:bodyPr/>
          <a:lstStyle/>
          <a:p>
            <a:r>
              <a:rPr lang="es-CL" dirty="0"/>
              <a:t>Atributos de la clase </a:t>
            </a:r>
            <a:r>
              <a:rPr lang="es-CL" dirty="0" err="1"/>
              <a:t>subsession</a:t>
            </a:r>
            <a:endParaRPr lang="es-CL" dirty="0"/>
          </a:p>
        </p:txBody>
      </p:sp>
      <p:sp>
        <p:nvSpPr>
          <p:cNvPr id="3" name="Marcador de contenido 2">
            <a:extLst>
              <a:ext uri="{FF2B5EF4-FFF2-40B4-BE49-F238E27FC236}">
                <a16:creationId xmlns:a16="http://schemas.microsoft.com/office/drawing/2014/main" id="{FF1006AD-CF09-976E-CD18-F43E0D38F2D4}"/>
              </a:ext>
            </a:extLst>
          </p:cNvPr>
          <p:cNvSpPr>
            <a:spLocks noGrp="1"/>
          </p:cNvSpPr>
          <p:nvPr>
            <p:ph idx="1"/>
          </p:nvPr>
        </p:nvSpPr>
        <p:spPr>
          <a:xfrm>
            <a:off x="838200" y="1564641"/>
            <a:ext cx="10515600" cy="1864359"/>
          </a:xfrm>
        </p:spPr>
        <p:txBody>
          <a:bodyPr>
            <a:normAutofit lnSpcReduction="10000"/>
          </a:bodyPr>
          <a:lstStyle/>
          <a:p>
            <a:pPr marL="0" indent="0">
              <a:buNone/>
            </a:pPr>
            <a:r>
              <a:rPr lang="es-CL" dirty="0"/>
              <a:t>Al usar </a:t>
            </a:r>
            <a:r>
              <a:rPr lang="es-CL" i="1" dirty="0" err="1"/>
              <a:t>creating_sesión</a:t>
            </a:r>
            <a:r>
              <a:rPr lang="es-CL" dirty="0"/>
              <a:t>() o </a:t>
            </a:r>
            <a:r>
              <a:rPr lang="es-CL" i="1" dirty="0" err="1"/>
              <a:t>ShuffleWaitPage</a:t>
            </a:r>
            <a:r>
              <a:rPr lang="es-CL" dirty="0"/>
              <a:t> vamos a trabajar al nivel de la clase </a:t>
            </a:r>
            <a:r>
              <a:rPr lang="es-CL" i="1" dirty="0" err="1"/>
              <a:t>subsession</a:t>
            </a:r>
            <a:r>
              <a:rPr lang="es-CL" i="1" dirty="0"/>
              <a:t>. </a:t>
            </a:r>
          </a:p>
          <a:p>
            <a:pPr marL="0" indent="0">
              <a:buNone/>
            </a:pPr>
            <a:endParaRPr lang="es-CL" dirty="0"/>
          </a:p>
          <a:p>
            <a:pPr marL="0" indent="0">
              <a:buNone/>
            </a:pPr>
            <a:r>
              <a:rPr lang="es-CL" dirty="0"/>
              <a:t>Funciones de </a:t>
            </a:r>
            <a:r>
              <a:rPr lang="es-CL" i="1" dirty="0" err="1"/>
              <a:t>subsession</a:t>
            </a:r>
            <a:r>
              <a:rPr lang="es-CL" dirty="0"/>
              <a:t>:</a:t>
            </a:r>
          </a:p>
          <a:p>
            <a:endParaRPr lang="es-CL" dirty="0"/>
          </a:p>
          <a:p>
            <a:pPr marL="0" indent="0">
              <a:buNone/>
            </a:pPr>
            <a:endParaRPr lang="es-CL" dirty="0"/>
          </a:p>
        </p:txBody>
      </p:sp>
      <p:sp>
        <p:nvSpPr>
          <p:cNvPr id="4" name="Marcador de pie de página 3">
            <a:extLst>
              <a:ext uri="{FF2B5EF4-FFF2-40B4-BE49-F238E27FC236}">
                <a16:creationId xmlns:a16="http://schemas.microsoft.com/office/drawing/2014/main" id="{4B19D88D-77E6-81A2-68FA-A5E491BDC680}"/>
              </a:ext>
            </a:extLst>
          </p:cNvPr>
          <p:cNvSpPr>
            <a:spLocks noGrp="1"/>
          </p:cNvSpPr>
          <p:nvPr>
            <p:ph type="ftr" sz="quarter" idx="11"/>
          </p:nvPr>
        </p:nvSpPr>
        <p:spPr/>
        <p:txBody>
          <a:bodyPr/>
          <a:lstStyle/>
          <a:p>
            <a:r>
              <a:rPr lang="es-CL"/>
              <a:t>Taller OTree – DCCS 2024</a:t>
            </a:r>
            <a:endParaRPr lang="es-CL" dirty="0"/>
          </a:p>
        </p:txBody>
      </p:sp>
      <p:sp>
        <p:nvSpPr>
          <p:cNvPr id="5" name="Marcador de número de diapositiva 4">
            <a:extLst>
              <a:ext uri="{FF2B5EF4-FFF2-40B4-BE49-F238E27FC236}">
                <a16:creationId xmlns:a16="http://schemas.microsoft.com/office/drawing/2014/main" id="{22E603B1-FF2E-F4C9-F2AB-817616A47290}"/>
              </a:ext>
            </a:extLst>
          </p:cNvPr>
          <p:cNvSpPr>
            <a:spLocks noGrp="1"/>
          </p:cNvSpPr>
          <p:nvPr>
            <p:ph type="sldNum" sz="quarter" idx="12"/>
          </p:nvPr>
        </p:nvSpPr>
        <p:spPr/>
        <p:txBody>
          <a:bodyPr/>
          <a:lstStyle/>
          <a:p>
            <a:fld id="{19B08602-078C-4A74-AD07-C822C0FADE2C}" type="slidenum">
              <a:rPr lang="es-CL" smtClean="0"/>
              <a:t>9</a:t>
            </a:fld>
            <a:endParaRPr lang="es-CL"/>
          </a:p>
        </p:txBody>
      </p:sp>
      <p:sp>
        <p:nvSpPr>
          <p:cNvPr id="6" name="Marcador de contenido 2">
            <a:extLst>
              <a:ext uri="{FF2B5EF4-FFF2-40B4-BE49-F238E27FC236}">
                <a16:creationId xmlns:a16="http://schemas.microsoft.com/office/drawing/2014/main" id="{5957CC47-8615-E7A1-3565-D576BB08322C}"/>
              </a:ext>
            </a:extLst>
          </p:cNvPr>
          <p:cNvSpPr txBox="1">
            <a:spLocks/>
          </p:cNvSpPr>
          <p:nvPr/>
        </p:nvSpPr>
        <p:spPr>
          <a:xfrm>
            <a:off x="838200" y="3600767"/>
            <a:ext cx="9936480" cy="2583815"/>
          </a:xfrm>
          <a:prstGeom prst="rect">
            <a:avLst/>
          </a:prstGeom>
        </p:spPr>
        <p:txBody>
          <a:bodyPr vert="horz" lIns="91440" tIns="45720" rIns="91440" bIns="45720" numCol="2"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CL" i="1" dirty="0" err="1"/>
              <a:t>round_number</a:t>
            </a:r>
            <a:r>
              <a:rPr lang="es-CL" i="1" dirty="0"/>
              <a:t>()</a:t>
            </a:r>
          </a:p>
          <a:p>
            <a:r>
              <a:rPr lang="es-CL" i="1" dirty="0" err="1"/>
              <a:t>get_groups</a:t>
            </a:r>
            <a:r>
              <a:rPr lang="es-CL" i="1" dirty="0"/>
              <a:t>()</a:t>
            </a:r>
          </a:p>
          <a:p>
            <a:r>
              <a:rPr lang="es-CL" i="1" dirty="0" err="1"/>
              <a:t>get_players</a:t>
            </a:r>
            <a:r>
              <a:rPr lang="es-CL" i="1" dirty="0"/>
              <a:t>()</a:t>
            </a:r>
          </a:p>
          <a:p>
            <a:r>
              <a:rPr lang="es-CL" i="1" dirty="0" err="1"/>
              <a:t>group_randomly</a:t>
            </a:r>
            <a:r>
              <a:rPr lang="es-CL" i="1" dirty="0"/>
              <a:t>()</a:t>
            </a:r>
          </a:p>
          <a:p>
            <a:r>
              <a:rPr lang="es-CL" i="1" dirty="0" err="1"/>
              <a:t>group_like_round</a:t>
            </a:r>
            <a:r>
              <a:rPr lang="es-CL" i="1" dirty="0"/>
              <a:t>(n)</a:t>
            </a:r>
          </a:p>
          <a:p>
            <a:r>
              <a:rPr lang="es-CL" i="1" dirty="0" err="1"/>
              <a:t>set_group_matrix</a:t>
            </a:r>
            <a:r>
              <a:rPr lang="es-CL" i="1" dirty="0"/>
              <a:t>()</a:t>
            </a:r>
          </a:p>
          <a:p>
            <a:r>
              <a:rPr lang="es-CL" i="1" dirty="0" err="1"/>
              <a:t>get_group_matrix</a:t>
            </a:r>
            <a:r>
              <a:rPr lang="es-CL" i="1" dirty="0"/>
              <a:t>()</a:t>
            </a:r>
          </a:p>
          <a:p>
            <a:r>
              <a:rPr lang="es-CL" i="1" dirty="0" err="1"/>
              <a:t>in_all_rounds</a:t>
            </a:r>
            <a:r>
              <a:rPr lang="es-CL" i="1" dirty="0"/>
              <a:t>()</a:t>
            </a:r>
          </a:p>
          <a:p>
            <a:r>
              <a:rPr lang="es-CL" i="1" dirty="0" err="1"/>
              <a:t>in_previous_rounds</a:t>
            </a:r>
            <a:r>
              <a:rPr lang="es-CL" i="1" dirty="0"/>
              <a:t>()</a:t>
            </a:r>
          </a:p>
          <a:p>
            <a:r>
              <a:rPr lang="es-CL" i="1" dirty="0" err="1"/>
              <a:t>in_rounds</a:t>
            </a:r>
            <a:r>
              <a:rPr lang="es-CL" i="1" dirty="0"/>
              <a:t>(</a:t>
            </a:r>
            <a:r>
              <a:rPr lang="es-CL" i="1" dirty="0" err="1"/>
              <a:t>m,n</a:t>
            </a:r>
            <a:r>
              <a:rPr lang="es-CL" i="1" dirty="0"/>
              <a:t>)</a:t>
            </a:r>
          </a:p>
          <a:p>
            <a:r>
              <a:rPr lang="es-CL" i="1" dirty="0" err="1"/>
              <a:t>in_round</a:t>
            </a:r>
            <a:r>
              <a:rPr lang="es-CL" i="1" dirty="0"/>
              <a:t>(n)</a:t>
            </a:r>
          </a:p>
          <a:p>
            <a:endParaRPr lang="es-CL" dirty="0"/>
          </a:p>
        </p:txBody>
      </p:sp>
    </p:spTree>
    <p:extLst>
      <p:ext uri="{BB962C8B-B14F-4D97-AF65-F5344CB8AC3E}">
        <p14:creationId xmlns:p14="http://schemas.microsoft.com/office/powerpoint/2010/main" val="118121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BEB310-C719-41A9-2182-6F45A7607FB5}"/>
              </a:ext>
            </a:extLst>
          </p:cNvPr>
          <p:cNvSpPr>
            <a:spLocks noGrp="1"/>
          </p:cNvSpPr>
          <p:nvPr>
            <p:ph type="title"/>
          </p:nvPr>
        </p:nvSpPr>
        <p:spPr>
          <a:xfrm>
            <a:off x="683821" y="102681"/>
            <a:ext cx="10515600" cy="573026"/>
          </a:xfrm>
        </p:spPr>
        <p:txBody>
          <a:bodyPr>
            <a:normAutofit fontScale="90000"/>
          </a:bodyPr>
          <a:lstStyle/>
          <a:p>
            <a:r>
              <a:rPr lang="es-CL" dirty="0"/>
              <a:t>Estructura de una sesión</a:t>
            </a:r>
          </a:p>
        </p:txBody>
      </p:sp>
      <p:pic>
        <p:nvPicPr>
          <p:cNvPr id="7" name="Marcador de contenido 6">
            <a:extLst>
              <a:ext uri="{FF2B5EF4-FFF2-40B4-BE49-F238E27FC236}">
                <a16:creationId xmlns:a16="http://schemas.microsoft.com/office/drawing/2014/main" id="{D9DA6362-6462-6CF7-FE7B-5B90352ED46B}"/>
              </a:ext>
            </a:extLst>
          </p:cNvPr>
          <p:cNvPicPr>
            <a:picLocks noGrp="1" noChangeAspect="1"/>
          </p:cNvPicPr>
          <p:nvPr>
            <p:ph idx="1"/>
          </p:nvPr>
        </p:nvPicPr>
        <p:blipFill>
          <a:blip r:embed="rId2"/>
          <a:stretch>
            <a:fillRect/>
          </a:stretch>
        </p:blipFill>
        <p:spPr>
          <a:xfrm>
            <a:off x="1933445" y="675707"/>
            <a:ext cx="7518286" cy="2930039"/>
          </a:xfrm>
        </p:spPr>
      </p:pic>
      <p:sp>
        <p:nvSpPr>
          <p:cNvPr id="4" name="Marcador de pie de página 3">
            <a:extLst>
              <a:ext uri="{FF2B5EF4-FFF2-40B4-BE49-F238E27FC236}">
                <a16:creationId xmlns:a16="http://schemas.microsoft.com/office/drawing/2014/main" id="{5A7CC45F-E2EA-432C-0B57-A6E337E99A85}"/>
              </a:ext>
            </a:extLst>
          </p:cNvPr>
          <p:cNvSpPr>
            <a:spLocks noGrp="1"/>
          </p:cNvSpPr>
          <p:nvPr>
            <p:ph type="ftr" sz="quarter" idx="11"/>
          </p:nvPr>
        </p:nvSpPr>
        <p:spPr/>
        <p:txBody>
          <a:bodyPr/>
          <a:lstStyle/>
          <a:p>
            <a:r>
              <a:rPr lang="es-CL"/>
              <a:t>Taller OTree – DCCS 2024</a:t>
            </a:r>
            <a:endParaRPr lang="es-CL" dirty="0"/>
          </a:p>
        </p:txBody>
      </p:sp>
      <p:sp>
        <p:nvSpPr>
          <p:cNvPr id="5" name="Marcador de número de diapositiva 4">
            <a:extLst>
              <a:ext uri="{FF2B5EF4-FFF2-40B4-BE49-F238E27FC236}">
                <a16:creationId xmlns:a16="http://schemas.microsoft.com/office/drawing/2014/main" id="{6C06DDCF-E645-13B2-1518-C5FC346E4DBF}"/>
              </a:ext>
            </a:extLst>
          </p:cNvPr>
          <p:cNvSpPr>
            <a:spLocks noGrp="1"/>
          </p:cNvSpPr>
          <p:nvPr>
            <p:ph type="sldNum" sz="quarter" idx="12"/>
          </p:nvPr>
        </p:nvSpPr>
        <p:spPr/>
        <p:txBody>
          <a:bodyPr/>
          <a:lstStyle/>
          <a:p>
            <a:fld id="{19B08602-078C-4A74-AD07-C822C0FADE2C}" type="slidenum">
              <a:rPr lang="es-CL" smtClean="0"/>
              <a:t>10</a:t>
            </a:fld>
            <a:endParaRPr lang="es-CL"/>
          </a:p>
        </p:txBody>
      </p:sp>
      <p:pic>
        <p:nvPicPr>
          <p:cNvPr id="9" name="Imagen 8">
            <a:extLst>
              <a:ext uri="{FF2B5EF4-FFF2-40B4-BE49-F238E27FC236}">
                <a16:creationId xmlns:a16="http://schemas.microsoft.com/office/drawing/2014/main" id="{F968FB21-2CC1-F90B-CC4F-97A8DAE4259B}"/>
              </a:ext>
            </a:extLst>
          </p:cNvPr>
          <p:cNvPicPr>
            <a:picLocks noChangeAspect="1"/>
          </p:cNvPicPr>
          <p:nvPr/>
        </p:nvPicPr>
        <p:blipFill>
          <a:blip r:embed="rId3"/>
          <a:stretch>
            <a:fillRect/>
          </a:stretch>
        </p:blipFill>
        <p:spPr>
          <a:xfrm>
            <a:off x="1933445" y="3847047"/>
            <a:ext cx="7649942" cy="2335246"/>
          </a:xfrm>
          <a:prstGeom prst="rect">
            <a:avLst/>
          </a:prstGeom>
        </p:spPr>
      </p:pic>
    </p:spTree>
    <p:extLst>
      <p:ext uri="{BB962C8B-B14F-4D97-AF65-F5344CB8AC3E}">
        <p14:creationId xmlns:p14="http://schemas.microsoft.com/office/powerpoint/2010/main" val="4049151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46F84E-B404-42E6-F8DF-807CF15B8866}"/>
              </a:ext>
            </a:extLst>
          </p:cNvPr>
          <p:cNvSpPr>
            <a:spLocks noGrp="1"/>
          </p:cNvSpPr>
          <p:nvPr>
            <p:ph type="title"/>
          </p:nvPr>
        </p:nvSpPr>
        <p:spPr>
          <a:xfrm>
            <a:off x="736600" y="532765"/>
            <a:ext cx="10515600" cy="748162"/>
          </a:xfrm>
        </p:spPr>
        <p:txBody>
          <a:bodyPr/>
          <a:lstStyle/>
          <a:p>
            <a:r>
              <a:rPr lang="es-CL" dirty="0"/>
              <a:t>Traspaso de información</a:t>
            </a:r>
          </a:p>
        </p:txBody>
      </p:sp>
      <p:sp>
        <p:nvSpPr>
          <p:cNvPr id="3" name="Marcador de contenido 2">
            <a:extLst>
              <a:ext uri="{FF2B5EF4-FFF2-40B4-BE49-F238E27FC236}">
                <a16:creationId xmlns:a16="http://schemas.microsoft.com/office/drawing/2014/main" id="{19E2D22A-8BA0-A734-C072-78D6DAEA9A06}"/>
              </a:ext>
            </a:extLst>
          </p:cNvPr>
          <p:cNvSpPr>
            <a:spLocks noGrp="1"/>
          </p:cNvSpPr>
          <p:nvPr>
            <p:ph idx="1"/>
          </p:nvPr>
        </p:nvSpPr>
        <p:spPr>
          <a:xfrm>
            <a:off x="396240" y="1825625"/>
            <a:ext cx="11562080" cy="3355975"/>
          </a:xfrm>
        </p:spPr>
        <p:txBody>
          <a:bodyPr>
            <a:normAutofit/>
          </a:bodyPr>
          <a:lstStyle/>
          <a:p>
            <a:pPr marL="0" indent="0">
              <a:buNone/>
            </a:pPr>
            <a:r>
              <a:rPr lang="es-CL" b="1" dirty="0"/>
              <a:t>Entre rondas</a:t>
            </a:r>
            <a:r>
              <a:rPr lang="es-CL" dirty="0"/>
              <a:t>: </a:t>
            </a:r>
          </a:p>
          <a:p>
            <a:pPr marL="0" indent="0">
              <a:buNone/>
            </a:pPr>
            <a:r>
              <a:rPr lang="es-CL" dirty="0"/>
              <a:t>Con las clases Player, Group y </a:t>
            </a:r>
            <a:r>
              <a:rPr lang="es-CL" dirty="0" err="1"/>
              <a:t>Subsession</a:t>
            </a:r>
            <a:r>
              <a:rPr lang="es-CL" dirty="0"/>
              <a:t> usar:</a:t>
            </a:r>
          </a:p>
          <a:p>
            <a:pPr marL="0" indent="0">
              <a:buNone/>
            </a:pPr>
            <a:r>
              <a:rPr lang="en-US" i="1" dirty="0" err="1"/>
              <a:t>in_previous_rounds</a:t>
            </a:r>
            <a:r>
              <a:rPr lang="en-US" i="1" dirty="0"/>
              <a:t>()</a:t>
            </a:r>
          </a:p>
          <a:p>
            <a:pPr marL="0" indent="0">
              <a:buNone/>
            </a:pPr>
            <a:r>
              <a:rPr lang="en-US" i="1" dirty="0" err="1"/>
              <a:t>in_all_rounds</a:t>
            </a:r>
            <a:r>
              <a:rPr lang="en-US" i="1" dirty="0"/>
              <a:t>()</a:t>
            </a:r>
          </a:p>
          <a:p>
            <a:pPr marL="0" indent="0">
              <a:buNone/>
            </a:pPr>
            <a:r>
              <a:rPr lang="en-US" i="1" dirty="0" err="1"/>
              <a:t>in_rounds</a:t>
            </a:r>
            <a:r>
              <a:rPr lang="en-US" i="1" dirty="0"/>
              <a:t>(</a:t>
            </a:r>
            <a:r>
              <a:rPr lang="en-US" i="1" dirty="0" err="1"/>
              <a:t>n,m</a:t>
            </a:r>
            <a:r>
              <a:rPr lang="en-US" i="1" dirty="0"/>
              <a:t>)</a:t>
            </a:r>
          </a:p>
          <a:p>
            <a:pPr marL="0" indent="0">
              <a:buNone/>
            </a:pPr>
            <a:r>
              <a:rPr lang="en-US" i="1" dirty="0" err="1"/>
              <a:t>in_round</a:t>
            </a:r>
            <a:r>
              <a:rPr lang="en-US" i="1" dirty="0"/>
              <a:t>(n)</a:t>
            </a:r>
            <a:endParaRPr lang="es-CL" i="1" dirty="0"/>
          </a:p>
          <a:p>
            <a:pPr marL="0" indent="0">
              <a:buNone/>
            </a:pPr>
            <a:endParaRPr lang="es-CL" dirty="0"/>
          </a:p>
          <a:p>
            <a:pPr marL="0" indent="0">
              <a:buNone/>
            </a:pPr>
            <a:endParaRPr lang="es-CL" dirty="0"/>
          </a:p>
        </p:txBody>
      </p:sp>
      <p:sp>
        <p:nvSpPr>
          <p:cNvPr id="4" name="Marcador de pie de página 3">
            <a:extLst>
              <a:ext uri="{FF2B5EF4-FFF2-40B4-BE49-F238E27FC236}">
                <a16:creationId xmlns:a16="http://schemas.microsoft.com/office/drawing/2014/main" id="{68EA0C8C-9E8E-5E2B-A960-09A28CB36FE1}"/>
              </a:ext>
            </a:extLst>
          </p:cNvPr>
          <p:cNvSpPr>
            <a:spLocks noGrp="1"/>
          </p:cNvSpPr>
          <p:nvPr>
            <p:ph type="ftr" sz="quarter" idx="11"/>
          </p:nvPr>
        </p:nvSpPr>
        <p:spPr/>
        <p:txBody>
          <a:bodyPr/>
          <a:lstStyle/>
          <a:p>
            <a:r>
              <a:rPr lang="es-CL"/>
              <a:t>Taller OTree – DCCS 2024</a:t>
            </a:r>
            <a:endParaRPr lang="es-CL" dirty="0"/>
          </a:p>
        </p:txBody>
      </p:sp>
      <p:sp>
        <p:nvSpPr>
          <p:cNvPr id="5" name="Marcador de número de diapositiva 4">
            <a:extLst>
              <a:ext uri="{FF2B5EF4-FFF2-40B4-BE49-F238E27FC236}">
                <a16:creationId xmlns:a16="http://schemas.microsoft.com/office/drawing/2014/main" id="{A86B31A0-B90D-A809-F862-626C11D7CC2D}"/>
              </a:ext>
            </a:extLst>
          </p:cNvPr>
          <p:cNvSpPr>
            <a:spLocks noGrp="1"/>
          </p:cNvSpPr>
          <p:nvPr>
            <p:ph type="sldNum" sz="quarter" idx="12"/>
          </p:nvPr>
        </p:nvSpPr>
        <p:spPr/>
        <p:txBody>
          <a:bodyPr/>
          <a:lstStyle/>
          <a:p>
            <a:fld id="{19B08602-078C-4A74-AD07-C822C0FADE2C}" type="slidenum">
              <a:rPr lang="es-CL" smtClean="0"/>
              <a:t>11</a:t>
            </a:fld>
            <a:endParaRPr lang="es-CL"/>
          </a:p>
        </p:txBody>
      </p:sp>
      <p:sp>
        <p:nvSpPr>
          <p:cNvPr id="13" name="CuadroTexto 12">
            <a:extLst>
              <a:ext uri="{FF2B5EF4-FFF2-40B4-BE49-F238E27FC236}">
                <a16:creationId xmlns:a16="http://schemas.microsoft.com/office/drawing/2014/main" id="{B1D02A9B-6C8C-EA00-0DBA-1606C850ED37}"/>
              </a:ext>
            </a:extLst>
          </p:cNvPr>
          <p:cNvSpPr txBox="1"/>
          <p:nvPr/>
        </p:nvSpPr>
        <p:spPr>
          <a:xfrm>
            <a:off x="4856480" y="3108960"/>
            <a:ext cx="6217920" cy="3139321"/>
          </a:xfrm>
          <a:prstGeom prst="rect">
            <a:avLst/>
          </a:prstGeom>
          <a:noFill/>
          <a:ln w="38100">
            <a:solidFill>
              <a:schemeClr val="accent1">
                <a:lumMod val="60000"/>
                <a:lumOff val="40000"/>
              </a:schemeClr>
            </a:solidFill>
          </a:ln>
        </p:spPr>
        <p:txBody>
          <a:bodyPr wrap="square" rtlCol="0">
            <a:spAutoFit/>
          </a:bodyPr>
          <a:lstStyle/>
          <a:p>
            <a:r>
              <a:rPr lang="es-CL" dirty="0"/>
              <a:t>Estas funciones entregan el objeto completo de la clase que lo llamó.</a:t>
            </a:r>
          </a:p>
          <a:p>
            <a:endParaRPr lang="es-CL" dirty="0"/>
          </a:p>
          <a:p>
            <a:r>
              <a:rPr lang="es-CL" dirty="0"/>
              <a:t>Ejemplo:</a:t>
            </a:r>
          </a:p>
          <a:p>
            <a:endParaRPr lang="es-CL" dirty="0"/>
          </a:p>
          <a:p>
            <a:r>
              <a:rPr lang="es-CL" dirty="0"/>
              <a:t>RONDA 1:   </a:t>
            </a:r>
            <a:r>
              <a:rPr lang="es-CL" dirty="0" err="1"/>
              <a:t>player.var</a:t>
            </a:r>
            <a:r>
              <a:rPr lang="es-CL" dirty="0"/>
              <a:t> = 10</a:t>
            </a:r>
          </a:p>
          <a:p>
            <a:endParaRPr lang="es-CL" dirty="0"/>
          </a:p>
          <a:p>
            <a:r>
              <a:rPr lang="es-CL" dirty="0"/>
              <a:t>RONDA 2:   </a:t>
            </a:r>
            <a:r>
              <a:rPr lang="es-CL" dirty="0" err="1"/>
              <a:t>player.var</a:t>
            </a:r>
            <a:r>
              <a:rPr lang="es-CL" dirty="0"/>
              <a:t> = 20</a:t>
            </a:r>
          </a:p>
          <a:p>
            <a:r>
              <a:rPr lang="es-CL" dirty="0"/>
              <a:t>	     player_ronda1 = </a:t>
            </a:r>
            <a:r>
              <a:rPr lang="es-CL" dirty="0" err="1"/>
              <a:t>player.in_round</a:t>
            </a:r>
            <a:r>
              <a:rPr lang="es-CL" dirty="0"/>
              <a:t>(1)</a:t>
            </a:r>
          </a:p>
          <a:p>
            <a:r>
              <a:rPr lang="es-CL" dirty="0"/>
              <a:t>                         </a:t>
            </a:r>
            <a:r>
              <a:rPr lang="es-CL" dirty="0" err="1"/>
              <a:t>print</a:t>
            </a:r>
            <a:r>
              <a:rPr lang="es-CL" dirty="0"/>
              <a:t>(player_ronda1.var)   &gt;&gt;&gt;  10</a:t>
            </a:r>
          </a:p>
          <a:p>
            <a:r>
              <a:rPr lang="es-CL" dirty="0"/>
              <a:t>	     </a:t>
            </a:r>
            <a:r>
              <a:rPr lang="es-CL" dirty="0" err="1"/>
              <a:t>print</a:t>
            </a:r>
            <a:r>
              <a:rPr lang="es-CL" dirty="0"/>
              <a:t>(</a:t>
            </a:r>
            <a:r>
              <a:rPr lang="es-CL" dirty="0" err="1"/>
              <a:t>player.var</a:t>
            </a:r>
            <a:r>
              <a:rPr lang="es-CL" dirty="0"/>
              <a:t>)    &gt;&gt;&gt;  20</a:t>
            </a:r>
          </a:p>
        </p:txBody>
      </p:sp>
    </p:spTree>
    <p:extLst>
      <p:ext uri="{BB962C8B-B14F-4D97-AF65-F5344CB8AC3E}">
        <p14:creationId xmlns:p14="http://schemas.microsoft.com/office/powerpoint/2010/main" val="3010137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46F84E-B404-42E6-F8DF-807CF15B8866}"/>
              </a:ext>
            </a:extLst>
          </p:cNvPr>
          <p:cNvSpPr>
            <a:spLocks noGrp="1"/>
          </p:cNvSpPr>
          <p:nvPr>
            <p:ph type="title"/>
          </p:nvPr>
        </p:nvSpPr>
        <p:spPr>
          <a:xfrm>
            <a:off x="746760" y="136525"/>
            <a:ext cx="10515600" cy="748162"/>
          </a:xfrm>
        </p:spPr>
        <p:txBody>
          <a:bodyPr/>
          <a:lstStyle/>
          <a:p>
            <a:r>
              <a:rPr lang="es-CL" dirty="0"/>
              <a:t>Traspaso de información</a:t>
            </a:r>
          </a:p>
        </p:txBody>
      </p:sp>
      <p:sp>
        <p:nvSpPr>
          <p:cNvPr id="4" name="Marcador de pie de página 3">
            <a:extLst>
              <a:ext uri="{FF2B5EF4-FFF2-40B4-BE49-F238E27FC236}">
                <a16:creationId xmlns:a16="http://schemas.microsoft.com/office/drawing/2014/main" id="{68EA0C8C-9E8E-5E2B-A960-09A28CB36FE1}"/>
              </a:ext>
            </a:extLst>
          </p:cNvPr>
          <p:cNvSpPr>
            <a:spLocks noGrp="1"/>
          </p:cNvSpPr>
          <p:nvPr>
            <p:ph type="ftr" sz="quarter" idx="11"/>
          </p:nvPr>
        </p:nvSpPr>
        <p:spPr/>
        <p:txBody>
          <a:bodyPr/>
          <a:lstStyle/>
          <a:p>
            <a:r>
              <a:rPr lang="es-CL"/>
              <a:t>Taller OTree – DCCS 2024</a:t>
            </a:r>
            <a:endParaRPr lang="es-CL" dirty="0"/>
          </a:p>
        </p:txBody>
      </p:sp>
      <p:sp>
        <p:nvSpPr>
          <p:cNvPr id="5" name="Marcador de número de diapositiva 4">
            <a:extLst>
              <a:ext uri="{FF2B5EF4-FFF2-40B4-BE49-F238E27FC236}">
                <a16:creationId xmlns:a16="http://schemas.microsoft.com/office/drawing/2014/main" id="{A86B31A0-B90D-A809-F862-626C11D7CC2D}"/>
              </a:ext>
            </a:extLst>
          </p:cNvPr>
          <p:cNvSpPr>
            <a:spLocks noGrp="1"/>
          </p:cNvSpPr>
          <p:nvPr>
            <p:ph type="sldNum" sz="quarter" idx="12"/>
          </p:nvPr>
        </p:nvSpPr>
        <p:spPr/>
        <p:txBody>
          <a:bodyPr/>
          <a:lstStyle/>
          <a:p>
            <a:fld id="{19B08602-078C-4A74-AD07-C822C0FADE2C}" type="slidenum">
              <a:rPr lang="es-CL" smtClean="0"/>
              <a:t>12</a:t>
            </a:fld>
            <a:endParaRPr lang="es-CL"/>
          </a:p>
        </p:txBody>
      </p:sp>
      <p:sp>
        <p:nvSpPr>
          <p:cNvPr id="6" name="Marcador de contenido 2">
            <a:extLst>
              <a:ext uri="{FF2B5EF4-FFF2-40B4-BE49-F238E27FC236}">
                <a16:creationId xmlns:a16="http://schemas.microsoft.com/office/drawing/2014/main" id="{91FC7C7D-11A1-10B6-E51D-0AA2E9ADEFAF}"/>
              </a:ext>
            </a:extLst>
          </p:cNvPr>
          <p:cNvSpPr txBox="1">
            <a:spLocks/>
          </p:cNvSpPr>
          <p:nvPr/>
        </p:nvSpPr>
        <p:spPr>
          <a:xfrm>
            <a:off x="392084" y="1002345"/>
            <a:ext cx="11562080" cy="10050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CL" b="1" dirty="0"/>
              <a:t>Entre tareas (</a:t>
            </a:r>
            <a:r>
              <a:rPr lang="es-CL" b="1" dirty="0" err="1"/>
              <a:t>app_sequence</a:t>
            </a:r>
            <a:r>
              <a:rPr lang="es-CL" b="1" dirty="0"/>
              <a:t>)</a:t>
            </a:r>
            <a:r>
              <a:rPr lang="es-CL" dirty="0"/>
              <a:t>: </a:t>
            </a:r>
          </a:p>
          <a:p>
            <a:pPr marL="0" indent="0">
              <a:buFont typeface="Arial" panose="020B0604020202020204" pitchFamily="34" charset="0"/>
              <a:buNone/>
            </a:pPr>
            <a:r>
              <a:rPr lang="es-CL" dirty="0"/>
              <a:t>Usar el objeto </a:t>
            </a:r>
            <a:r>
              <a:rPr lang="es-CL" i="1" dirty="0" err="1"/>
              <a:t>participant</a:t>
            </a:r>
            <a:r>
              <a:rPr lang="es-CL" i="1" dirty="0"/>
              <a:t>.</a:t>
            </a:r>
          </a:p>
          <a:p>
            <a:pPr marL="0" indent="0">
              <a:buFont typeface="Arial" panose="020B0604020202020204" pitchFamily="34" charset="0"/>
              <a:buNone/>
            </a:pPr>
            <a:endParaRPr lang="es-CL" dirty="0"/>
          </a:p>
        </p:txBody>
      </p:sp>
      <p:sp>
        <p:nvSpPr>
          <p:cNvPr id="7" name="CuadroTexto 6">
            <a:extLst>
              <a:ext uri="{FF2B5EF4-FFF2-40B4-BE49-F238E27FC236}">
                <a16:creationId xmlns:a16="http://schemas.microsoft.com/office/drawing/2014/main" id="{054FC6EB-3265-0B65-CBCF-D3E59D058008}"/>
              </a:ext>
            </a:extLst>
          </p:cNvPr>
          <p:cNvSpPr txBox="1"/>
          <p:nvPr/>
        </p:nvSpPr>
        <p:spPr>
          <a:xfrm>
            <a:off x="6366164" y="4425005"/>
            <a:ext cx="4987636" cy="923330"/>
          </a:xfrm>
          <a:prstGeom prst="rect">
            <a:avLst/>
          </a:prstGeom>
          <a:noFill/>
          <a:ln>
            <a:solidFill>
              <a:schemeClr val="tx2"/>
            </a:solidFill>
          </a:ln>
        </p:spPr>
        <p:txBody>
          <a:bodyPr wrap="square" rtlCol="0">
            <a:spAutoFit/>
          </a:bodyPr>
          <a:lstStyle/>
          <a:p>
            <a:r>
              <a:rPr lang="es-CL" dirty="0"/>
              <a:t>Dentro de __init__.py :</a:t>
            </a:r>
          </a:p>
          <a:p>
            <a:endParaRPr lang="es-CL" dirty="0"/>
          </a:p>
          <a:p>
            <a:r>
              <a:rPr lang="es-CL" dirty="0">
                <a:solidFill>
                  <a:srgbClr val="FF0000"/>
                </a:solidFill>
              </a:rPr>
              <a:t>player.input1_tarea1 = player.participant.var1  </a:t>
            </a:r>
          </a:p>
        </p:txBody>
      </p:sp>
      <p:sp>
        <p:nvSpPr>
          <p:cNvPr id="9" name="CuadroTexto 8">
            <a:extLst>
              <a:ext uri="{FF2B5EF4-FFF2-40B4-BE49-F238E27FC236}">
                <a16:creationId xmlns:a16="http://schemas.microsoft.com/office/drawing/2014/main" id="{01074E03-44DB-155B-0BA0-4BE66203A452}"/>
              </a:ext>
            </a:extLst>
          </p:cNvPr>
          <p:cNvSpPr txBox="1"/>
          <p:nvPr/>
        </p:nvSpPr>
        <p:spPr>
          <a:xfrm>
            <a:off x="3321396" y="2135843"/>
            <a:ext cx="4488872" cy="923330"/>
          </a:xfrm>
          <a:prstGeom prst="rect">
            <a:avLst/>
          </a:prstGeom>
          <a:noFill/>
          <a:ln>
            <a:solidFill>
              <a:schemeClr val="tx2"/>
            </a:solidFill>
          </a:ln>
        </p:spPr>
        <p:txBody>
          <a:bodyPr wrap="square" rtlCol="0">
            <a:spAutoFit/>
          </a:bodyPr>
          <a:lstStyle/>
          <a:p>
            <a:r>
              <a:rPr lang="es-CL" dirty="0"/>
              <a:t>Dentro de settings.py :</a:t>
            </a:r>
          </a:p>
          <a:p>
            <a:endParaRPr lang="es-CL" dirty="0">
              <a:solidFill>
                <a:schemeClr val="bg1"/>
              </a:solidFill>
              <a:highlight>
                <a:srgbClr val="000000"/>
              </a:highlight>
            </a:endParaRPr>
          </a:p>
          <a:p>
            <a:r>
              <a:rPr lang="es-CL" b="0" i="0" dirty="0">
                <a:solidFill>
                  <a:srgbClr val="E74C3C"/>
                </a:solidFill>
                <a:effectLst/>
                <a:highlight>
                  <a:srgbClr val="FFFFFF"/>
                </a:highlight>
                <a:latin typeface="SFMono-Regular"/>
              </a:rPr>
              <a:t>PARTICIPANT_FIELDS = [var</a:t>
            </a:r>
            <a:r>
              <a:rPr lang="es-CL" dirty="0">
                <a:solidFill>
                  <a:srgbClr val="E74C3C"/>
                </a:solidFill>
                <a:highlight>
                  <a:srgbClr val="FFFFFF"/>
                </a:highlight>
                <a:latin typeface="SFMono-Regular"/>
              </a:rPr>
              <a:t>1</a:t>
            </a:r>
            <a:r>
              <a:rPr lang="es-CL" b="0" i="0" dirty="0">
                <a:solidFill>
                  <a:srgbClr val="E74C3C"/>
                </a:solidFill>
                <a:effectLst/>
                <a:highlight>
                  <a:srgbClr val="FFFFFF"/>
                </a:highlight>
                <a:latin typeface="SFMono-Regular"/>
              </a:rPr>
              <a:t>]</a:t>
            </a:r>
            <a:r>
              <a:rPr lang="es-CL" b="0" i="0" dirty="0">
                <a:solidFill>
                  <a:schemeClr val="bg1"/>
                </a:solidFill>
                <a:effectLst/>
                <a:latin typeface="SFMono-Regular"/>
              </a:rPr>
              <a:t>=</a:t>
            </a:r>
            <a:r>
              <a:rPr lang="es-CL" dirty="0">
                <a:solidFill>
                  <a:schemeClr val="bg1"/>
                </a:solidFill>
                <a:highlight>
                  <a:srgbClr val="000000"/>
                </a:highlight>
              </a:rPr>
              <a:t>  </a:t>
            </a:r>
          </a:p>
        </p:txBody>
      </p:sp>
      <p:sp>
        <p:nvSpPr>
          <p:cNvPr id="10" name="CuadroTexto 9">
            <a:extLst>
              <a:ext uri="{FF2B5EF4-FFF2-40B4-BE49-F238E27FC236}">
                <a16:creationId xmlns:a16="http://schemas.microsoft.com/office/drawing/2014/main" id="{7E0DAC25-9B6E-D4AB-D12F-5F2A654C991F}"/>
              </a:ext>
            </a:extLst>
          </p:cNvPr>
          <p:cNvSpPr txBox="1"/>
          <p:nvPr/>
        </p:nvSpPr>
        <p:spPr>
          <a:xfrm>
            <a:off x="2660996" y="2240680"/>
            <a:ext cx="660400" cy="830997"/>
          </a:xfrm>
          <a:prstGeom prst="rect">
            <a:avLst/>
          </a:prstGeom>
          <a:noFill/>
        </p:spPr>
        <p:txBody>
          <a:bodyPr wrap="square" rtlCol="0">
            <a:spAutoFit/>
          </a:bodyPr>
          <a:lstStyle/>
          <a:p>
            <a:r>
              <a:rPr lang="es-CL" sz="4800" dirty="0"/>
              <a:t>1</a:t>
            </a:r>
            <a:endParaRPr lang="es-CL" dirty="0"/>
          </a:p>
        </p:txBody>
      </p:sp>
      <p:sp>
        <p:nvSpPr>
          <p:cNvPr id="11" name="CuadroTexto 10">
            <a:extLst>
              <a:ext uri="{FF2B5EF4-FFF2-40B4-BE49-F238E27FC236}">
                <a16:creationId xmlns:a16="http://schemas.microsoft.com/office/drawing/2014/main" id="{D3BCCF11-93F2-8310-15D7-B2C58EB26987}"/>
              </a:ext>
            </a:extLst>
          </p:cNvPr>
          <p:cNvSpPr txBox="1"/>
          <p:nvPr/>
        </p:nvSpPr>
        <p:spPr>
          <a:xfrm>
            <a:off x="904240" y="4381224"/>
            <a:ext cx="4694612" cy="923330"/>
          </a:xfrm>
          <a:prstGeom prst="rect">
            <a:avLst/>
          </a:prstGeom>
          <a:noFill/>
          <a:ln>
            <a:solidFill>
              <a:schemeClr val="tx2"/>
            </a:solidFill>
          </a:ln>
        </p:spPr>
        <p:txBody>
          <a:bodyPr wrap="square" rtlCol="0">
            <a:spAutoFit/>
          </a:bodyPr>
          <a:lstStyle/>
          <a:p>
            <a:r>
              <a:rPr lang="es-CL" dirty="0"/>
              <a:t>Dentro de __init__.py :</a:t>
            </a:r>
          </a:p>
          <a:p>
            <a:endParaRPr lang="es-CL" dirty="0"/>
          </a:p>
          <a:p>
            <a:r>
              <a:rPr lang="es-CL" dirty="0">
                <a:solidFill>
                  <a:srgbClr val="FF0000"/>
                </a:solidFill>
              </a:rPr>
              <a:t>player.participant.var1 = player.input1_form</a:t>
            </a:r>
          </a:p>
        </p:txBody>
      </p:sp>
      <p:sp>
        <p:nvSpPr>
          <p:cNvPr id="12" name="CuadroTexto 11">
            <a:extLst>
              <a:ext uri="{FF2B5EF4-FFF2-40B4-BE49-F238E27FC236}">
                <a16:creationId xmlns:a16="http://schemas.microsoft.com/office/drawing/2014/main" id="{525EAD3F-D239-56DE-E52E-9DF287EC16A7}"/>
              </a:ext>
            </a:extLst>
          </p:cNvPr>
          <p:cNvSpPr txBox="1"/>
          <p:nvPr/>
        </p:nvSpPr>
        <p:spPr>
          <a:xfrm>
            <a:off x="416560" y="4355469"/>
            <a:ext cx="660400" cy="830997"/>
          </a:xfrm>
          <a:prstGeom prst="rect">
            <a:avLst/>
          </a:prstGeom>
          <a:noFill/>
        </p:spPr>
        <p:txBody>
          <a:bodyPr wrap="square" rtlCol="0">
            <a:spAutoFit/>
          </a:bodyPr>
          <a:lstStyle/>
          <a:p>
            <a:r>
              <a:rPr lang="es-CL" sz="4800" dirty="0"/>
              <a:t>2</a:t>
            </a:r>
            <a:endParaRPr lang="es-CL" dirty="0"/>
          </a:p>
        </p:txBody>
      </p:sp>
      <p:sp>
        <p:nvSpPr>
          <p:cNvPr id="14" name="CuadroTexto 13">
            <a:extLst>
              <a:ext uri="{FF2B5EF4-FFF2-40B4-BE49-F238E27FC236}">
                <a16:creationId xmlns:a16="http://schemas.microsoft.com/office/drawing/2014/main" id="{729039D1-C7E0-5734-DA0D-C2E8C85B6971}"/>
              </a:ext>
            </a:extLst>
          </p:cNvPr>
          <p:cNvSpPr txBox="1"/>
          <p:nvPr/>
        </p:nvSpPr>
        <p:spPr>
          <a:xfrm>
            <a:off x="2269836" y="3786324"/>
            <a:ext cx="2103120" cy="553998"/>
          </a:xfrm>
          <a:prstGeom prst="rect">
            <a:avLst/>
          </a:prstGeom>
          <a:noFill/>
        </p:spPr>
        <p:txBody>
          <a:bodyPr wrap="square" rtlCol="0">
            <a:spAutoFit/>
          </a:bodyPr>
          <a:lstStyle/>
          <a:p>
            <a:r>
              <a:rPr lang="es-CL" sz="3000" dirty="0"/>
              <a:t>TAREA 1</a:t>
            </a:r>
          </a:p>
        </p:txBody>
      </p:sp>
      <p:sp>
        <p:nvSpPr>
          <p:cNvPr id="15" name="CuadroTexto 14">
            <a:extLst>
              <a:ext uri="{FF2B5EF4-FFF2-40B4-BE49-F238E27FC236}">
                <a16:creationId xmlns:a16="http://schemas.microsoft.com/office/drawing/2014/main" id="{92768726-50CC-0876-4E2E-F44598D23B84}"/>
              </a:ext>
            </a:extLst>
          </p:cNvPr>
          <p:cNvSpPr txBox="1"/>
          <p:nvPr/>
        </p:nvSpPr>
        <p:spPr>
          <a:xfrm>
            <a:off x="7559040" y="3786324"/>
            <a:ext cx="2103120" cy="553998"/>
          </a:xfrm>
          <a:prstGeom prst="rect">
            <a:avLst/>
          </a:prstGeom>
          <a:noFill/>
        </p:spPr>
        <p:txBody>
          <a:bodyPr wrap="square" rtlCol="0">
            <a:spAutoFit/>
          </a:bodyPr>
          <a:lstStyle/>
          <a:p>
            <a:r>
              <a:rPr lang="es-CL" sz="3000" dirty="0"/>
              <a:t>TAREA 2</a:t>
            </a:r>
          </a:p>
        </p:txBody>
      </p:sp>
      <p:sp>
        <p:nvSpPr>
          <p:cNvPr id="16" name="CuadroTexto 15">
            <a:extLst>
              <a:ext uri="{FF2B5EF4-FFF2-40B4-BE49-F238E27FC236}">
                <a16:creationId xmlns:a16="http://schemas.microsoft.com/office/drawing/2014/main" id="{34B3122B-8128-2161-AB3C-CD25C509B9D1}"/>
              </a:ext>
            </a:extLst>
          </p:cNvPr>
          <p:cNvSpPr txBox="1"/>
          <p:nvPr/>
        </p:nvSpPr>
        <p:spPr>
          <a:xfrm>
            <a:off x="5765800" y="4372618"/>
            <a:ext cx="660400" cy="830997"/>
          </a:xfrm>
          <a:prstGeom prst="rect">
            <a:avLst/>
          </a:prstGeom>
          <a:noFill/>
        </p:spPr>
        <p:txBody>
          <a:bodyPr wrap="square" rtlCol="0">
            <a:spAutoFit/>
          </a:bodyPr>
          <a:lstStyle/>
          <a:p>
            <a:r>
              <a:rPr lang="es-CL" sz="4800" dirty="0"/>
              <a:t>3</a:t>
            </a:r>
            <a:endParaRPr lang="es-CL" dirty="0"/>
          </a:p>
        </p:txBody>
      </p:sp>
    </p:spTree>
    <p:extLst>
      <p:ext uri="{BB962C8B-B14F-4D97-AF65-F5344CB8AC3E}">
        <p14:creationId xmlns:p14="http://schemas.microsoft.com/office/powerpoint/2010/main" val="882688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4A3410-59ED-0DD2-92EA-DB1E292BBE14}"/>
              </a:ext>
            </a:extLst>
          </p:cNvPr>
          <p:cNvSpPr>
            <a:spLocks noGrp="1"/>
          </p:cNvSpPr>
          <p:nvPr>
            <p:ph type="title"/>
          </p:nvPr>
        </p:nvSpPr>
        <p:spPr>
          <a:xfrm>
            <a:off x="838200" y="136525"/>
            <a:ext cx="10515600" cy="594995"/>
          </a:xfrm>
        </p:spPr>
        <p:txBody>
          <a:bodyPr>
            <a:normAutofit fontScale="90000"/>
          </a:bodyPr>
          <a:lstStyle/>
          <a:p>
            <a:r>
              <a:rPr lang="es-CL" dirty="0"/>
              <a:t>Desafío de hoy</a:t>
            </a:r>
          </a:p>
        </p:txBody>
      </p:sp>
      <p:sp>
        <p:nvSpPr>
          <p:cNvPr id="3" name="Marcador de contenido 2">
            <a:extLst>
              <a:ext uri="{FF2B5EF4-FFF2-40B4-BE49-F238E27FC236}">
                <a16:creationId xmlns:a16="http://schemas.microsoft.com/office/drawing/2014/main" id="{26B4E03E-1413-1A9F-5389-3303CD244FC5}"/>
              </a:ext>
            </a:extLst>
          </p:cNvPr>
          <p:cNvSpPr>
            <a:spLocks noGrp="1"/>
          </p:cNvSpPr>
          <p:nvPr>
            <p:ph idx="1"/>
          </p:nvPr>
        </p:nvSpPr>
        <p:spPr>
          <a:xfrm>
            <a:off x="475488" y="859536"/>
            <a:ext cx="11265408" cy="5317427"/>
          </a:xfrm>
        </p:spPr>
        <p:txBody>
          <a:bodyPr>
            <a:normAutofit/>
          </a:bodyPr>
          <a:lstStyle/>
          <a:p>
            <a:r>
              <a:rPr lang="es-CL" sz="2400" dirty="0"/>
              <a:t>Usar la tarea de la semana pasada (Juego de la confianza).</a:t>
            </a:r>
          </a:p>
          <a:p>
            <a:r>
              <a:rPr lang="es-CL" sz="2400" dirty="0"/>
              <a:t>Agregar un cuestionario antes del juego (usar </a:t>
            </a:r>
            <a:r>
              <a:rPr lang="es-CL" sz="2400" dirty="0" err="1"/>
              <a:t>app_sequence</a:t>
            </a:r>
            <a:r>
              <a:rPr lang="es-CL" sz="2400" dirty="0"/>
              <a:t> en settings.py).</a:t>
            </a:r>
          </a:p>
          <a:p>
            <a:r>
              <a:rPr lang="es-CL" sz="2400" dirty="0"/>
              <a:t>Hacer 3 rondas del juego.</a:t>
            </a:r>
          </a:p>
          <a:p>
            <a:r>
              <a:rPr lang="es-CL" sz="2400" dirty="0"/>
              <a:t>Asignar los grupos del juego para que queden de sexo diferente (H con M).</a:t>
            </a:r>
          </a:p>
          <a:p>
            <a:r>
              <a:rPr lang="es-CL" sz="2400" dirty="0"/>
              <a:t>Las parejas deben mantenerse durante toda la sesión.</a:t>
            </a:r>
          </a:p>
          <a:p>
            <a:r>
              <a:rPr lang="es-CL" sz="2400" dirty="0"/>
              <a:t>Probar la app con 6 personas, 3 hombres y 3 mujeres.</a:t>
            </a:r>
          </a:p>
          <a:p>
            <a:endParaRPr lang="es-CL" sz="2400" dirty="0"/>
          </a:p>
          <a:p>
            <a:pPr marL="0" indent="0">
              <a:buNone/>
            </a:pPr>
            <a:r>
              <a:rPr lang="es-CL" sz="2400" dirty="0"/>
              <a:t>Ayuda:</a:t>
            </a:r>
          </a:p>
          <a:p>
            <a:pPr marL="0" indent="0">
              <a:buNone/>
            </a:pPr>
            <a:r>
              <a:rPr lang="es-CL" sz="2400" dirty="0"/>
              <a:t>Usar </a:t>
            </a:r>
            <a:r>
              <a:rPr lang="es-CL" sz="2400" i="1" dirty="0" err="1">
                <a:solidFill>
                  <a:srgbClr val="FF0000"/>
                </a:solidFill>
              </a:rPr>
              <a:t>participant</a:t>
            </a:r>
            <a:r>
              <a:rPr lang="es-CL" sz="2400" dirty="0"/>
              <a:t> para pasar la variable “sexo” del cuestionario hacia el juego. Para esto se debe agregar “</a:t>
            </a:r>
            <a:r>
              <a:rPr lang="es-CL" sz="2400" i="1" dirty="0" err="1"/>
              <a:t>before_next_page</a:t>
            </a:r>
            <a:r>
              <a:rPr lang="es-CL" sz="2400" dirty="0"/>
              <a:t>” en la página del cuestionario y modificar el settings.py.</a:t>
            </a:r>
          </a:p>
          <a:p>
            <a:pPr marL="0" indent="0">
              <a:buNone/>
            </a:pPr>
            <a:r>
              <a:rPr lang="es-CL" sz="2400" dirty="0"/>
              <a:t>Usar </a:t>
            </a:r>
            <a:r>
              <a:rPr lang="es-CL" sz="2400" i="1" dirty="0" err="1">
                <a:solidFill>
                  <a:srgbClr val="FF0000"/>
                </a:solidFill>
              </a:rPr>
              <a:t>ShuffleWaitPage</a:t>
            </a:r>
            <a:r>
              <a:rPr lang="es-CL" sz="2400" i="1" dirty="0">
                <a:solidFill>
                  <a:srgbClr val="FF0000"/>
                </a:solidFill>
              </a:rPr>
              <a:t> </a:t>
            </a:r>
            <a:r>
              <a:rPr lang="es-CL" sz="2400" dirty="0"/>
              <a:t>para crear los grupos. </a:t>
            </a:r>
            <a:r>
              <a:rPr lang="es-CL" sz="2400" dirty="0">
                <a:highlight>
                  <a:srgbClr val="FFFF00"/>
                </a:highlight>
              </a:rPr>
              <a:t>¿Por qué no usar creating_sesión?</a:t>
            </a:r>
          </a:p>
        </p:txBody>
      </p:sp>
      <p:sp>
        <p:nvSpPr>
          <p:cNvPr id="4" name="Marcador de pie de página 3">
            <a:extLst>
              <a:ext uri="{FF2B5EF4-FFF2-40B4-BE49-F238E27FC236}">
                <a16:creationId xmlns:a16="http://schemas.microsoft.com/office/drawing/2014/main" id="{F9499008-1000-355D-23C2-C2F7324C29DB}"/>
              </a:ext>
            </a:extLst>
          </p:cNvPr>
          <p:cNvSpPr>
            <a:spLocks noGrp="1"/>
          </p:cNvSpPr>
          <p:nvPr>
            <p:ph type="ftr" sz="quarter" idx="11"/>
          </p:nvPr>
        </p:nvSpPr>
        <p:spPr/>
        <p:txBody>
          <a:bodyPr/>
          <a:lstStyle/>
          <a:p>
            <a:r>
              <a:rPr lang="es-CL" dirty="0"/>
              <a:t>Taller </a:t>
            </a:r>
            <a:r>
              <a:rPr lang="es-CL" dirty="0" err="1"/>
              <a:t>OTree</a:t>
            </a:r>
            <a:r>
              <a:rPr lang="es-CL" dirty="0"/>
              <a:t> – DCCS 2024</a:t>
            </a:r>
          </a:p>
        </p:txBody>
      </p:sp>
      <p:sp>
        <p:nvSpPr>
          <p:cNvPr id="5" name="Marcador de número de diapositiva 4">
            <a:extLst>
              <a:ext uri="{FF2B5EF4-FFF2-40B4-BE49-F238E27FC236}">
                <a16:creationId xmlns:a16="http://schemas.microsoft.com/office/drawing/2014/main" id="{003EE0B6-B149-F0A5-AC40-173BCBA699C7}"/>
              </a:ext>
            </a:extLst>
          </p:cNvPr>
          <p:cNvSpPr>
            <a:spLocks noGrp="1"/>
          </p:cNvSpPr>
          <p:nvPr>
            <p:ph type="sldNum" sz="quarter" idx="12"/>
          </p:nvPr>
        </p:nvSpPr>
        <p:spPr/>
        <p:txBody>
          <a:bodyPr/>
          <a:lstStyle/>
          <a:p>
            <a:fld id="{19B08602-078C-4A74-AD07-C822C0FADE2C}" type="slidenum">
              <a:rPr lang="es-CL" smtClean="0"/>
              <a:t>13</a:t>
            </a:fld>
            <a:endParaRPr lang="es-CL" dirty="0"/>
          </a:p>
        </p:txBody>
      </p:sp>
    </p:spTree>
    <p:extLst>
      <p:ext uri="{BB962C8B-B14F-4D97-AF65-F5344CB8AC3E}">
        <p14:creationId xmlns:p14="http://schemas.microsoft.com/office/powerpoint/2010/main" val="360286941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1073</TotalTime>
  <Words>980</Words>
  <Application>Microsoft Office PowerPoint</Application>
  <PresentationFormat>Panorámica</PresentationFormat>
  <Paragraphs>155</Paragraphs>
  <Slides>13</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13</vt:i4>
      </vt:variant>
    </vt:vector>
  </HeadingPairs>
  <TitlesOfParts>
    <vt:vector size="19" baseType="lpstr">
      <vt:lpstr>Abadi Extra Light</vt:lpstr>
      <vt:lpstr>Aptos</vt:lpstr>
      <vt:lpstr>Aptos Display</vt:lpstr>
      <vt:lpstr>Arial</vt:lpstr>
      <vt:lpstr>SFMono-Regular</vt:lpstr>
      <vt:lpstr>Tema de Office</vt:lpstr>
      <vt:lpstr>Taller OTree DCCS Clase 4</vt:lpstr>
      <vt:lpstr>Asignación a grupos y tratamientos</vt:lpstr>
      <vt:lpstr>Asignación de jugadores a los grupos</vt:lpstr>
      <vt:lpstr>creating_session(): Se ejecuta al inicio de la sesión</vt:lpstr>
      <vt:lpstr>En una página de espera ShuffleWaitPage</vt:lpstr>
      <vt:lpstr>Por orden de llegada en una WaitPage: Esta página debe ser la primera de la secuencia de páginas.</vt:lpstr>
      <vt:lpstr>Asignación de tratamientos</vt:lpstr>
      <vt:lpstr>Algunas consideraciones:</vt:lpstr>
      <vt:lpstr>Atributos de la clase subsession</vt:lpstr>
      <vt:lpstr>Estructura de una sesión</vt:lpstr>
      <vt:lpstr>Traspaso de información</vt:lpstr>
      <vt:lpstr>Traspaso de información</vt:lpstr>
      <vt:lpstr>Desafío de hoy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Taller Otree DCCS Clase 1</dc:title>
  <dc:creator>Alejandra Molina</dc:creator>
  <cp:lastModifiedBy>Alejandra Molina</cp:lastModifiedBy>
  <cp:revision>80</cp:revision>
  <dcterms:created xsi:type="dcterms:W3CDTF">2024-03-04T14:52:39Z</dcterms:created>
  <dcterms:modified xsi:type="dcterms:W3CDTF">2024-06-14T20:31:24Z</dcterms:modified>
</cp:coreProperties>
</file>